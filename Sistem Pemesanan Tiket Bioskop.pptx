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rial MT Pro" panose="020B0604020202020204" charset="0"/>
      <p:regular r:id="rId14"/>
    </p:embeddedFont>
    <p:embeddedFont>
      <p:font typeface="Merriweather" panose="00000500000000000000"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53" y="-11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0.png"/><Relationship Id="rId3" Type="http://schemas.openxmlformats.org/officeDocument/2006/relationships/image" Target="../media/image2.svg"/><Relationship Id="rId7" Type="http://schemas.openxmlformats.org/officeDocument/2006/relationships/image" Target="../media/image14.png"/><Relationship Id="rId12" Type="http://schemas.openxmlformats.org/officeDocument/2006/relationships/image" Target="../media/image8.svg"/><Relationship Id="rId2" Type="http://schemas.openxmlformats.org/officeDocument/2006/relationships/image" Target="../media/image1.png"/><Relationship Id="rId16"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7.png"/><Relationship Id="rId5" Type="http://schemas.openxmlformats.org/officeDocument/2006/relationships/image" Target="../media/image19.png"/><Relationship Id="rId1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8.png"/><Relationship Id="rId9" Type="http://schemas.openxmlformats.org/officeDocument/2006/relationships/image" Target="../media/image16.png"/><Relationship Id="rId14" Type="http://schemas.openxmlformats.org/officeDocument/2006/relationships/image" Target="../media/image11.svg"/></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14.png"/><Relationship Id="rId18" Type="http://schemas.openxmlformats.org/officeDocument/2006/relationships/image" Target="../media/image6.svg"/><Relationship Id="rId3" Type="http://schemas.openxmlformats.org/officeDocument/2006/relationships/image" Target="../media/image2.svg"/><Relationship Id="rId21" Type="http://schemas.openxmlformats.org/officeDocument/2006/relationships/image" Target="../media/image10.png"/><Relationship Id="rId7" Type="http://schemas.openxmlformats.org/officeDocument/2006/relationships/image" Target="../media/image24.svg"/><Relationship Id="rId12" Type="http://schemas.openxmlformats.org/officeDocument/2006/relationships/image" Target="../media/image29.png"/><Relationship Id="rId17" Type="http://schemas.openxmlformats.org/officeDocument/2006/relationships/image" Target="../media/image5.png"/><Relationship Id="rId2" Type="http://schemas.openxmlformats.org/officeDocument/2006/relationships/image" Target="../media/image1.png"/><Relationship Id="rId16" Type="http://schemas.openxmlformats.org/officeDocument/2006/relationships/image" Target="../media/image17.svg"/><Relationship Id="rId20"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svg"/><Relationship Id="rId24" Type="http://schemas.openxmlformats.org/officeDocument/2006/relationships/image" Target="../media/image13.svg"/><Relationship Id="rId5" Type="http://schemas.openxmlformats.org/officeDocument/2006/relationships/image" Target="../media/image22.svg"/><Relationship Id="rId15" Type="http://schemas.openxmlformats.org/officeDocument/2006/relationships/image" Target="../media/image16.png"/><Relationship Id="rId23" Type="http://schemas.openxmlformats.org/officeDocument/2006/relationships/image" Target="../media/image12.png"/><Relationship Id="rId10" Type="http://schemas.openxmlformats.org/officeDocument/2006/relationships/image" Target="../media/image27.png"/><Relationship Id="rId19" Type="http://schemas.openxmlformats.org/officeDocument/2006/relationships/image" Target="../media/image7.png"/><Relationship Id="rId4" Type="http://schemas.openxmlformats.org/officeDocument/2006/relationships/image" Target="../media/image21.png"/><Relationship Id="rId9" Type="http://schemas.openxmlformats.org/officeDocument/2006/relationships/image" Target="../media/image26.svg"/><Relationship Id="rId14" Type="http://schemas.openxmlformats.org/officeDocument/2006/relationships/image" Target="../media/image15.svg"/><Relationship Id="rId22"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3.sv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7.svg"/><Relationship Id="rId5" Type="http://schemas.openxmlformats.org/officeDocument/2006/relationships/image" Target="../media/image8.svg"/><Relationship Id="rId10"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13.svg"/></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6.svg"/><Relationship Id="rId3" Type="http://schemas.openxmlformats.org/officeDocument/2006/relationships/image" Target="../media/image2.svg"/><Relationship Id="rId7" Type="http://schemas.openxmlformats.org/officeDocument/2006/relationships/image" Target="../media/image17.svg"/><Relationship Id="rId12"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3.svg"/><Relationship Id="rId5" Type="http://schemas.openxmlformats.org/officeDocument/2006/relationships/image" Target="../media/image8.svg"/><Relationship Id="rId15" Type="http://schemas.openxmlformats.org/officeDocument/2006/relationships/image" Target="../media/image15.sv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svg"/><Relationship Id="rId1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7.svg"/><Relationship Id="rId3" Type="http://schemas.openxmlformats.org/officeDocument/2006/relationships/image" Target="../media/image2.svg"/><Relationship Id="rId7" Type="http://schemas.openxmlformats.org/officeDocument/2006/relationships/image" Target="../media/image8.svg"/><Relationship Id="rId12" Type="http://schemas.openxmlformats.org/officeDocument/2006/relationships/image" Target="../media/image16.png"/><Relationship Id="rId17" Type="http://schemas.openxmlformats.org/officeDocument/2006/relationships/image" Target="../media/image13.svg"/><Relationship Id="rId2" Type="http://schemas.openxmlformats.org/officeDocument/2006/relationships/image" Target="../media/image1.png"/><Relationship Id="rId16"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5.svg"/><Relationship Id="rId5" Type="http://schemas.openxmlformats.org/officeDocument/2006/relationships/image" Target="../media/image4.svg"/><Relationship Id="rId15" Type="http://schemas.openxmlformats.org/officeDocument/2006/relationships/image" Target="../media/image11.sv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6.sv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7D7DC"/>
        </a:solidFill>
        <a:effectLst/>
      </p:bgPr>
    </p:bg>
    <p:spTree>
      <p:nvGrpSpPr>
        <p:cNvPr id="1" name=""/>
        <p:cNvGrpSpPr/>
        <p:nvPr/>
      </p:nvGrpSpPr>
      <p:grpSpPr>
        <a:xfrm>
          <a:off x="0" y="0"/>
          <a:ext cx="0" cy="0"/>
          <a:chOff x="0" y="0"/>
          <a:chExt cx="0" cy="0"/>
        </a:xfrm>
      </p:grpSpPr>
      <p:sp>
        <p:nvSpPr>
          <p:cNvPr id="2" name="Freeform 2"/>
          <p:cNvSpPr/>
          <p:nvPr/>
        </p:nvSpPr>
        <p:spPr>
          <a:xfrm>
            <a:off x="-110100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8972050" y="0"/>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sp>
      <p:sp>
        <p:nvSpPr>
          <p:cNvPr id="4" name="Freeform 4"/>
          <p:cNvSpPr/>
          <p:nvPr/>
        </p:nvSpPr>
        <p:spPr>
          <a:xfrm>
            <a:off x="5140918" y="1028700"/>
            <a:ext cx="12118382" cy="7316473"/>
          </a:xfrm>
          <a:custGeom>
            <a:avLst/>
            <a:gdLst/>
            <a:ahLst/>
            <a:cxnLst/>
            <a:rect l="l" t="t" r="r" b="b"/>
            <a:pathLst>
              <a:path w="12118382" h="7316473">
                <a:moveTo>
                  <a:pt x="0" y="0"/>
                </a:moveTo>
                <a:lnTo>
                  <a:pt x="12118382" y="0"/>
                </a:lnTo>
                <a:lnTo>
                  <a:pt x="12118382" y="7316473"/>
                </a:lnTo>
                <a:lnTo>
                  <a:pt x="0" y="73164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6604483" y="2220912"/>
            <a:ext cx="9191253" cy="5760359"/>
          </a:xfrm>
          <a:prstGeom prst="rect">
            <a:avLst/>
          </a:prstGeom>
        </p:spPr>
        <p:txBody>
          <a:bodyPr lIns="0" tIns="0" rIns="0" bIns="0" rtlCol="0" anchor="t">
            <a:spAutoFit/>
          </a:bodyPr>
          <a:lstStyle/>
          <a:p>
            <a:pPr algn="ctr">
              <a:lnSpc>
                <a:spcPts val="9099"/>
              </a:lnSpc>
            </a:pPr>
            <a:r>
              <a:rPr lang="en-US" sz="6499" dirty="0" err="1">
                <a:solidFill>
                  <a:srgbClr val="000000"/>
                </a:solidFill>
                <a:latin typeface="Merriweather"/>
                <a:ea typeface="Merriweather"/>
                <a:cs typeface="Merriweather"/>
                <a:sym typeface="Merriweather"/>
              </a:rPr>
              <a:t>Sistem</a:t>
            </a:r>
            <a:r>
              <a:rPr lang="en-US" sz="6499" dirty="0">
                <a:solidFill>
                  <a:srgbClr val="000000"/>
                </a:solidFill>
                <a:latin typeface="Merriweather"/>
                <a:ea typeface="Merriweather"/>
                <a:cs typeface="Merriweather"/>
                <a:sym typeface="Merriweather"/>
              </a:rPr>
              <a:t> </a:t>
            </a:r>
            <a:r>
              <a:rPr lang="en-US" sz="6499" dirty="0" err="1">
                <a:solidFill>
                  <a:srgbClr val="000000"/>
                </a:solidFill>
                <a:latin typeface="Merriweather"/>
                <a:ea typeface="Merriweather"/>
                <a:cs typeface="Merriweather"/>
                <a:sym typeface="Merriweather"/>
              </a:rPr>
              <a:t>Pemesanan</a:t>
            </a:r>
            <a:r>
              <a:rPr lang="en-US" sz="6499" dirty="0">
                <a:solidFill>
                  <a:srgbClr val="000000"/>
                </a:solidFill>
                <a:latin typeface="Merriweather"/>
                <a:ea typeface="Merriweather"/>
                <a:cs typeface="Merriweather"/>
                <a:sym typeface="Merriweather"/>
              </a:rPr>
              <a:t> </a:t>
            </a:r>
            <a:r>
              <a:rPr lang="en-US" sz="6499" dirty="0" err="1">
                <a:solidFill>
                  <a:srgbClr val="000000"/>
                </a:solidFill>
                <a:latin typeface="Merriweather"/>
                <a:ea typeface="Merriweather"/>
                <a:cs typeface="Merriweather"/>
                <a:sym typeface="Merriweather"/>
              </a:rPr>
              <a:t>Tiket</a:t>
            </a:r>
            <a:r>
              <a:rPr lang="en-US" sz="6499" dirty="0">
                <a:solidFill>
                  <a:srgbClr val="000000"/>
                </a:solidFill>
                <a:latin typeface="Merriweather"/>
                <a:ea typeface="Merriweather"/>
                <a:cs typeface="Merriweather"/>
                <a:sym typeface="Merriweather"/>
              </a:rPr>
              <a:t> </a:t>
            </a:r>
            <a:r>
              <a:rPr lang="en-US" sz="6499" dirty="0" err="1">
                <a:solidFill>
                  <a:srgbClr val="000000"/>
                </a:solidFill>
                <a:latin typeface="Merriweather"/>
                <a:ea typeface="Merriweather"/>
                <a:cs typeface="Merriweather"/>
                <a:sym typeface="Merriweather"/>
              </a:rPr>
              <a:t>Bioskop</a:t>
            </a:r>
            <a:r>
              <a:rPr lang="en-US" sz="6499" dirty="0">
                <a:solidFill>
                  <a:srgbClr val="000000"/>
                </a:solidFill>
                <a:latin typeface="Merriweather"/>
                <a:ea typeface="Merriweather"/>
                <a:cs typeface="Merriweather"/>
                <a:sym typeface="Merriweather"/>
              </a:rPr>
              <a:t> </a:t>
            </a:r>
            <a:r>
              <a:rPr lang="en-US" sz="6499" dirty="0" err="1">
                <a:solidFill>
                  <a:srgbClr val="000000"/>
                </a:solidFill>
                <a:latin typeface="Merriweather"/>
                <a:ea typeface="Merriweather"/>
                <a:cs typeface="Merriweather"/>
                <a:sym typeface="Merriweather"/>
              </a:rPr>
              <a:t>dengan</a:t>
            </a:r>
            <a:r>
              <a:rPr lang="en-US" sz="6499" dirty="0">
                <a:solidFill>
                  <a:srgbClr val="000000"/>
                </a:solidFill>
                <a:latin typeface="Merriweather"/>
                <a:ea typeface="Merriweather"/>
                <a:cs typeface="Merriweather"/>
                <a:sym typeface="Merriweather"/>
              </a:rPr>
              <a:t> </a:t>
            </a:r>
            <a:r>
              <a:rPr lang="en-US" sz="6499" dirty="0" err="1">
                <a:solidFill>
                  <a:srgbClr val="000000"/>
                </a:solidFill>
                <a:latin typeface="Merriweather"/>
                <a:ea typeface="Merriweather"/>
                <a:cs typeface="Merriweather"/>
                <a:sym typeface="Merriweather"/>
              </a:rPr>
              <a:t>Konsep</a:t>
            </a:r>
            <a:r>
              <a:rPr lang="en-US" sz="6499" dirty="0">
                <a:solidFill>
                  <a:srgbClr val="000000"/>
                </a:solidFill>
                <a:latin typeface="Merriweather"/>
                <a:ea typeface="Merriweather"/>
                <a:cs typeface="Merriweather"/>
                <a:sym typeface="Merriweather"/>
              </a:rPr>
              <a:t> Encapsulation dan </a:t>
            </a:r>
            <a:r>
              <a:rPr lang="en-US" sz="6499" dirty="0" err="1">
                <a:solidFill>
                  <a:srgbClr val="000000"/>
                </a:solidFill>
                <a:latin typeface="Merriweather"/>
                <a:ea typeface="Merriweather"/>
                <a:cs typeface="Merriweather"/>
                <a:sym typeface="Merriweather"/>
              </a:rPr>
              <a:t>Polym</a:t>
            </a:r>
            <a:r>
              <a:rPr lang="en-US" sz="6499" dirty="0">
                <a:solidFill>
                  <a:srgbClr val="000000"/>
                </a:solidFill>
                <a:latin typeface="Merriweather"/>
                <a:ea typeface="Merriweather"/>
                <a:cs typeface="Merriweather"/>
                <a:sym typeface="Merriweather"/>
              </a:rPr>
              <a:t>	orphism</a:t>
            </a:r>
          </a:p>
          <a:p>
            <a:pPr algn="ctr">
              <a:lnSpc>
                <a:spcPts val="9099"/>
              </a:lnSpc>
            </a:pPr>
            <a:endParaRPr lang="en-US" sz="6499" dirty="0">
              <a:solidFill>
                <a:srgbClr val="000000"/>
              </a:solidFill>
              <a:latin typeface="Merriweather"/>
              <a:ea typeface="Merriweather"/>
              <a:cs typeface="Merriweather"/>
              <a:sym typeface="Merriweather"/>
            </a:endParaRPr>
          </a:p>
        </p:txBody>
      </p:sp>
      <p:sp>
        <p:nvSpPr>
          <p:cNvPr id="6" name="Freeform 6"/>
          <p:cNvSpPr/>
          <p:nvPr/>
        </p:nvSpPr>
        <p:spPr>
          <a:xfrm>
            <a:off x="1734630" y="-817792"/>
            <a:ext cx="3406289" cy="1846492"/>
          </a:xfrm>
          <a:custGeom>
            <a:avLst/>
            <a:gdLst/>
            <a:ahLst/>
            <a:cxnLst/>
            <a:rect l="l" t="t" r="r" b="b"/>
            <a:pathLst>
              <a:path w="3406289" h="1846492">
                <a:moveTo>
                  <a:pt x="0" y="0"/>
                </a:moveTo>
                <a:lnTo>
                  <a:pt x="3406288" y="0"/>
                </a:lnTo>
                <a:lnTo>
                  <a:pt x="3406288" y="1846492"/>
                </a:lnTo>
                <a:lnTo>
                  <a:pt x="0" y="184649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H="1">
            <a:off x="-1349523" y="-817792"/>
            <a:ext cx="3406289" cy="1846492"/>
          </a:xfrm>
          <a:custGeom>
            <a:avLst/>
            <a:gdLst/>
            <a:ahLst/>
            <a:cxnLst/>
            <a:rect l="l" t="t" r="r" b="b"/>
            <a:pathLst>
              <a:path w="3406289" h="1846492">
                <a:moveTo>
                  <a:pt x="3406288" y="0"/>
                </a:moveTo>
                <a:lnTo>
                  <a:pt x="0" y="0"/>
                </a:lnTo>
                <a:lnTo>
                  <a:pt x="0" y="1846492"/>
                </a:lnTo>
                <a:lnTo>
                  <a:pt x="3406288" y="1846492"/>
                </a:lnTo>
                <a:lnTo>
                  <a:pt x="3406288"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6698490" y="8966796"/>
            <a:ext cx="3073265" cy="1665966"/>
          </a:xfrm>
          <a:custGeom>
            <a:avLst/>
            <a:gdLst/>
            <a:ahLst/>
            <a:cxnLst/>
            <a:rect l="l" t="t" r="r" b="b"/>
            <a:pathLst>
              <a:path w="3073265" h="1665966">
                <a:moveTo>
                  <a:pt x="0" y="0"/>
                </a:moveTo>
                <a:lnTo>
                  <a:pt x="3073265" y="0"/>
                </a:lnTo>
                <a:lnTo>
                  <a:pt x="3073265" y="1665966"/>
                </a:lnTo>
                <a:lnTo>
                  <a:pt x="0" y="166596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H="1">
            <a:off x="13915866" y="8966796"/>
            <a:ext cx="3073265" cy="1665966"/>
          </a:xfrm>
          <a:custGeom>
            <a:avLst/>
            <a:gdLst/>
            <a:ahLst/>
            <a:cxnLst/>
            <a:rect l="l" t="t" r="r" b="b"/>
            <a:pathLst>
              <a:path w="3073265" h="1665966">
                <a:moveTo>
                  <a:pt x="3073265" y="0"/>
                </a:moveTo>
                <a:lnTo>
                  <a:pt x="0" y="0"/>
                </a:lnTo>
                <a:lnTo>
                  <a:pt x="0" y="1665966"/>
                </a:lnTo>
                <a:lnTo>
                  <a:pt x="3073265" y="1665966"/>
                </a:lnTo>
                <a:lnTo>
                  <a:pt x="3073265"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0" name="Group 10"/>
          <p:cNvGrpSpPr/>
          <p:nvPr/>
        </p:nvGrpSpPr>
        <p:grpSpPr>
          <a:xfrm>
            <a:off x="-725818" y="8966796"/>
            <a:ext cx="7006245" cy="1552634"/>
            <a:chOff x="0" y="0"/>
            <a:chExt cx="2239317" cy="496249"/>
          </a:xfrm>
        </p:grpSpPr>
        <p:sp>
          <p:nvSpPr>
            <p:cNvPr id="11" name="Freeform 11"/>
            <p:cNvSpPr/>
            <p:nvPr/>
          </p:nvSpPr>
          <p:spPr>
            <a:xfrm>
              <a:off x="0" y="0"/>
              <a:ext cx="2239318" cy="496249"/>
            </a:xfrm>
            <a:custGeom>
              <a:avLst/>
              <a:gdLst/>
              <a:ahLst/>
              <a:cxnLst/>
              <a:rect l="l" t="t" r="r" b="b"/>
              <a:pathLst>
                <a:path w="2239318" h="496249">
                  <a:moveTo>
                    <a:pt x="0" y="0"/>
                  </a:moveTo>
                  <a:lnTo>
                    <a:pt x="2239318" y="0"/>
                  </a:lnTo>
                  <a:lnTo>
                    <a:pt x="2239318" y="496249"/>
                  </a:lnTo>
                  <a:lnTo>
                    <a:pt x="0" y="496249"/>
                  </a:lnTo>
                  <a:close/>
                </a:path>
              </a:pathLst>
            </a:custGeom>
            <a:solidFill>
              <a:srgbClr val="8FC9D4"/>
            </a:solidFill>
            <a:ln w="38100" cap="sq">
              <a:solidFill>
                <a:srgbClr val="000000"/>
              </a:solidFill>
              <a:prstDash val="solid"/>
              <a:miter/>
            </a:ln>
          </p:spPr>
        </p:sp>
        <p:sp>
          <p:nvSpPr>
            <p:cNvPr id="12" name="TextBox 12"/>
            <p:cNvSpPr txBox="1"/>
            <p:nvPr/>
          </p:nvSpPr>
          <p:spPr>
            <a:xfrm>
              <a:off x="0" y="-38100"/>
              <a:ext cx="2239317" cy="534349"/>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flipH="1">
            <a:off x="0" y="4199747"/>
            <a:ext cx="6512637" cy="5291517"/>
          </a:xfrm>
          <a:custGeom>
            <a:avLst/>
            <a:gdLst/>
            <a:ahLst/>
            <a:cxnLst/>
            <a:rect l="l" t="t" r="r" b="b"/>
            <a:pathLst>
              <a:path w="6512637" h="5291517">
                <a:moveTo>
                  <a:pt x="6512637" y="0"/>
                </a:moveTo>
                <a:lnTo>
                  <a:pt x="0" y="0"/>
                </a:lnTo>
                <a:lnTo>
                  <a:pt x="0" y="5291518"/>
                </a:lnTo>
                <a:lnTo>
                  <a:pt x="6512637" y="5291518"/>
                </a:lnTo>
                <a:lnTo>
                  <a:pt x="6512637" y="0"/>
                </a:lnTo>
                <a:close/>
              </a:path>
            </a:pathLst>
          </a:custGeom>
          <a:blipFill>
            <a:blip r:embed="rId10"/>
            <a:stretch>
              <a:fillRect/>
            </a:stretch>
          </a:blipFill>
        </p:spPr>
      </p:sp>
      <p:sp>
        <p:nvSpPr>
          <p:cNvPr id="14" name="Freeform 14"/>
          <p:cNvSpPr/>
          <p:nvPr/>
        </p:nvSpPr>
        <p:spPr>
          <a:xfrm rot="290596">
            <a:off x="16031114" y="7182905"/>
            <a:ext cx="1334751" cy="1730633"/>
          </a:xfrm>
          <a:custGeom>
            <a:avLst/>
            <a:gdLst/>
            <a:ahLst/>
            <a:cxnLst/>
            <a:rect l="l" t="t" r="r" b="b"/>
            <a:pathLst>
              <a:path w="1334751" h="1730633">
                <a:moveTo>
                  <a:pt x="0" y="0"/>
                </a:moveTo>
                <a:lnTo>
                  <a:pt x="1334751" y="0"/>
                </a:lnTo>
                <a:lnTo>
                  <a:pt x="1334751" y="1730634"/>
                </a:lnTo>
                <a:lnTo>
                  <a:pt x="0" y="173063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5" name="Freeform 15"/>
          <p:cNvSpPr/>
          <p:nvPr/>
        </p:nvSpPr>
        <p:spPr>
          <a:xfrm rot="1214505">
            <a:off x="4620879" y="689891"/>
            <a:ext cx="1418441" cy="1646956"/>
          </a:xfrm>
          <a:custGeom>
            <a:avLst/>
            <a:gdLst/>
            <a:ahLst/>
            <a:cxnLst/>
            <a:rect l="l" t="t" r="r" b="b"/>
            <a:pathLst>
              <a:path w="1418441" h="1646956">
                <a:moveTo>
                  <a:pt x="0" y="0"/>
                </a:moveTo>
                <a:lnTo>
                  <a:pt x="1418441" y="0"/>
                </a:lnTo>
                <a:lnTo>
                  <a:pt x="1418441" y="1646957"/>
                </a:lnTo>
                <a:lnTo>
                  <a:pt x="0" y="164695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6" name="Freeform 16"/>
          <p:cNvSpPr/>
          <p:nvPr/>
        </p:nvSpPr>
        <p:spPr>
          <a:xfrm>
            <a:off x="1283368" y="1954065"/>
            <a:ext cx="902524" cy="1048938"/>
          </a:xfrm>
          <a:custGeom>
            <a:avLst/>
            <a:gdLst/>
            <a:ahLst/>
            <a:cxnLst/>
            <a:rect l="l" t="t" r="r" b="b"/>
            <a:pathLst>
              <a:path w="902524" h="1048938">
                <a:moveTo>
                  <a:pt x="0" y="0"/>
                </a:moveTo>
                <a:lnTo>
                  <a:pt x="902524" y="0"/>
                </a:lnTo>
                <a:lnTo>
                  <a:pt x="902524" y="1048938"/>
                </a:lnTo>
                <a:lnTo>
                  <a:pt x="0" y="104893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7" name="Freeform 17"/>
          <p:cNvSpPr/>
          <p:nvPr/>
        </p:nvSpPr>
        <p:spPr>
          <a:xfrm>
            <a:off x="12490979" y="8966796"/>
            <a:ext cx="902524" cy="1048938"/>
          </a:xfrm>
          <a:custGeom>
            <a:avLst/>
            <a:gdLst/>
            <a:ahLst/>
            <a:cxnLst/>
            <a:rect l="l" t="t" r="r" b="b"/>
            <a:pathLst>
              <a:path w="902524" h="1048938">
                <a:moveTo>
                  <a:pt x="0" y="0"/>
                </a:moveTo>
                <a:lnTo>
                  <a:pt x="902523" y="0"/>
                </a:lnTo>
                <a:lnTo>
                  <a:pt x="902523" y="1048938"/>
                </a:lnTo>
                <a:lnTo>
                  <a:pt x="0" y="104893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7D7DC"/>
        </a:solidFill>
        <a:effectLst/>
      </p:bgPr>
    </p:bg>
    <p:spTree>
      <p:nvGrpSpPr>
        <p:cNvPr id="1" name=""/>
        <p:cNvGrpSpPr/>
        <p:nvPr/>
      </p:nvGrpSpPr>
      <p:grpSpPr>
        <a:xfrm>
          <a:off x="0" y="0"/>
          <a:ext cx="0" cy="0"/>
          <a:chOff x="0" y="0"/>
          <a:chExt cx="0" cy="0"/>
        </a:xfrm>
      </p:grpSpPr>
      <p:sp>
        <p:nvSpPr>
          <p:cNvPr id="2" name="Freeform 2"/>
          <p:cNvSpPr/>
          <p:nvPr/>
        </p:nvSpPr>
        <p:spPr>
          <a:xfrm>
            <a:off x="-110100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48700" y="6875411"/>
            <a:ext cx="7887578" cy="3717425"/>
            <a:chOff x="0" y="0"/>
            <a:chExt cx="2698626" cy="1271865"/>
          </a:xfrm>
        </p:grpSpPr>
        <p:sp>
          <p:nvSpPr>
            <p:cNvPr id="4" name="Freeform 4"/>
            <p:cNvSpPr/>
            <p:nvPr/>
          </p:nvSpPr>
          <p:spPr>
            <a:xfrm>
              <a:off x="0" y="0"/>
              <a:ext cx="2698626" cy="1271865"/>
            </a:xfrm>
            <a:custGeom>
              <a:avLst/>
              <a:gdLst/>
              <a:ahLst/>
              <a:cxnLst/>
              <a:rect l="l" t="t" r="r" b="b"/>
              <a:pathLst>
                <a:path w="2698626" h="1271865">
                  <a:moveTo>
                    <a:pt x="0" y="0"/>
                  </a:moveTo>
                  <a:lnTo>
                    <a:pt x="2698626" y="0"/>
                  </a:lnTo>
                  <a:lnTo>
                    <a:pt x="2698626" y="1271865"/>
                  </a:lnTo>
                  <a:lnTo>
                    <a:pt x="0" y="1271865"/>
                  </a:lnTo>
                  <a:close/>
                </a:path>
              </a:pathLst>
            </a:custGeom>
            <a:solidFill>
              <a:srgbClr val="8FC9D4"/>
            </a:solidFill>
            <a:ln w="38100" cap="sq">
              <a:solidFill>
                <a:srgbClr val="000000"/>
              </a:solidFill>
              <a:prstDash val="solid"/>
              <a:miter/>
            </a:ln>
          </p:spPr>
        </p:sp>
        <p:sp>
          <p:nvSpPr>
            <p:cNvPr id="5" name="TextBox 5"/>
            <p:cNvSpPr txBox="1"/>
            <p:nvPr/>
          </p:nvSpPr>
          <p:spPr>
            <a:xfrm>
              <a:off x="0" y="-38100"/>
              <a:ext cx="2698626" cy="1309965"/>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flipH="1">
            <a:off x="3343399" y="923551"/>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6929084" y="2218690"/>
            <a:ext cx="10977618" cy="7993313"/>
            <a:chOff x="0" y="0"/>
            <a:chExt cx="2891225" cy="2105235"/>
          </a:xfrm>
        </p:grpSpPr>
        <p:sp>
          <p:nvSpPr>
            <p:cNvPr id="8" name="Freeform 8"/>
            <p:cNvSpPr/>
            <p:nvPr/>
          </p:nvSpPr>
          <p:spPr>
            <a:xfrm>
              <a:off x="0" y="0"/>
              <a:ext cx="2891224" cy="2105235"/>
            </a:xfrm>
            <a:custGeom>
              <a:avLst/>
              <a:gdLst/>
              <a:ahLst/>
              <a:cxnLst/>
              <a:rect l="l" t="t" r="r" b="b"/>
              <a:pathLst>
                <a:path w="2891224" h="2105235">
                  <a:moveTo>
                    <a:pt x="0" y="0"/>
                  </a:moveTo>
                  <a:lnTo>
                    <a:pt x="2891224" y="0"/>
                  </a:lnTo>
                  <a:lnTo>
                    <a:pt x="2891224" y="2105235"/>
                  </a:lnTo>
                  <a:lnTo>
                    <a:pt x="0" y="2105235"/>
                  </a:lnTo>
                  <a:close/>
                </a:path>
              </a:pathLst>
            </a:custGeom>
            <a:solidFill>
              <a:srgbClr val="FFFBD6"/>
            </a:solidFill>
            <a:ln w="38100" cap="sq">
              <a:solidFill>
                <a:srgbClr val="000000"/>
              </a:solidFill>
              <a:prstDash val="solid"/>
              <a:miter/>
            </a:ln>
          </p:spPr>
        </p:sp>
        <p:sp>
          <p:nvSpPr>
            <p:cNvPr id="9" name="TextBox 9"/>
            <p:cNvSpPr txBox="1"/>
            <p:nvPr/>
          </p:nvSpPr>
          <p:spPr>
            <a:xfrm>
              <a:off x="0" y="-38100"/>
              <a:ext cx="2891225" cy="2143335"/>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519790" y="4152154"/>
            <a:ext cx="7879491" cy="6224798"/>
          </a:xfrm>
          <a:custGeom>
            <a:avLst/>
            <a:gdLst/>
            <a:ahLst/>
            <a:cxnLst/>
            <a:rect l="l" t="t" r="r" b="b"/>
            <a:pathLst>
              <a:path w="7879491" h="6224798">
                <a:moveTo>
                  <a:pt x="0" y="0"/>
                </a:moveTo>
                <a:lnTo>
                  <a:pt x="7879491" y="0"/>
                </a:lnTo>
                <a:lnTo>
                  <a:pt x="7879491" y="6224798"/>
                </a:lnTo>
                <a:lnTo>
                  <a:pt x="0" y="6224798"/>
                </a:lnTo>
                <a:lnTo>
                  <a:pt x="0" y="0"/>
                </a:lnTo>
                <a:close/>
              </a:path>
            </a:pathLst>
          </a:custGeom>
          <a:blipFill>
            <a:blip r:embed="rId4"/>
            <a:stretch>
              <a:fillRect/>
            </a:stretch>
          </a:blipFill>
        </p:spPr>
      </p:sp>
      <p:grpSp>
        <p:nvGrpSpPr>
          <p:cNvPr id="11" name="Group 11"/>
          <p:cNvGrpSpPr/>
          <p:nvPr/>
        </p:nvGrpSpPr>
        <p:grpSpPr>
          <a:xfrm>
            <a:off x="7068654" y="2467842"/>
            <a:ext cx="381133" cy="38113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D781"/>
            </a:solidFill>
            <a:ln w="38100" cap="sq">
              <a:solidFill>
                <a:srgbClr val="000000"/>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flipH="1">
            <a:off x="6400726" y="1799914"/>
            <a:ext cx="858494" cy="858494"/>
          </a:xfrm>
          <a:custGeom>
            <a:avLst/>
            <a:gdLst/>
            <a:ahLst/>
            <a:cxnLst/>
            <a:rect l="l" t="t" r="r" b="b"/>
            <a:pathLst>
              <a:path w="858494" h="858494">
                <a:moveTo>
                  <a:pt x="858495" y="0"/>
                </a:moveTo>
                <a:lnTo>
                  <a:pt x="0" y="0"/>
                </a:lnTo>
                <a:lnTo>
                  <a:pt x="0" y="858495"/>
                </a:lnTo>
                <a:lnTo>
                  <a:pt x="858495" y="858495"/>
                </a:lnTo>
                <a:lnTo>
                  <a:pt x="858495"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TextBox 15"/>
          <p:cNvSpPr txBox="1"/>
          <p:nvPr/>
        </p:nvSpPr>
        <p:spPr>
          <a:xfrm>
            <a:off x="7531753" y="2964113"/>
            <a:ext cx="9772280" cy="7247890"/>
          </a:xfrm>
          <a:prstGeom prst="rect">
            <a:avLst/>
          </a:prstGeom>
        </p:spPr>
        <p:txBody>
          <a:bodyPr lIns="0" tIns="0" rIns="0" bIns="0" rtlCol="0" anchor="t">
            <a:spAutoFit/>
          </a:bodyPr>
          <a:lstStyle/>
          <a:p>
            <a:pPr algn="just">
              <a:lnSpc>
                <a:spcPts val="4759"/>
              </a:lnSpc>
            </a:pPr>
            <a:r>
              <a:rPr lang="en-US" sz="3399">
                <a:solidFill>
                  <a:srgbClr val="000000"/>
                </a:solidFill>
                <a:latin typeface="Arial MT Pro"/>
                <a:ea typeface="Arial MT Pro"/>
                <a:cs typeface="Arial MT Pro"/>
                <a:sym typeface="Arial MT Pro"/>
              </a:rPr>
              <a:t>Perkembangan teknologi informasi telah mendorong transformasi proses pemesanan tiket bioskop dari sistem manual menuju sistem digital yang lebih cepat, efisien, dan mudah digunakan. Kondisi tersebut mendorong pengembangan Sistem Pemesanan Tiket Bioskop berbasis Python sebagai implementasi konsep Object-Oriented Programming (OOP), dengan menerapkan Encapsulation untuk menjaga keamanan data serta Polymorphism untuk mengelola perhitungan harga sesuai dengan jenis tiket yang dipilih.</a:t>
            </a:r>
          </a:p>
          <a:p>
            <a:pPr algn="just">
              <a:lnSpc>
                <a:spcPts val="4759"/>
              </a:lnSpc>
            </a:pPr>
            <a:endParaRPr lang="en-US" sz="3399">
              <a:solidFill>
                <a:srgbClr val="000000"/>
              </a:solidFill>
              <a:latin typeface="Arial MT Pro"/>
              <a:ea typeface="Arial MT Pro"/>
              <a:cs typeface="Arial MT Pro"/>
              <a:sym typeface="Arial MT Pro"/>
            </a:endParaRPr>
          </a:p>
        </p:txBody>
      </p:sp>
      <p:sp>
        <p:nvSpPr>
          <p:cNvPr id="16" name="TextBox 16"/>
          <p:cNvSpPr txBox="1"/>
          <p:nvPr/>
        </p:nvSpPr>
        <p:spPr>
          <a:xfrm>
            <a:off x="7763590" y="-76200"/>
            <a:ext cx="9495710" cy="2095500"/>
          </a:xfrm>
          <a:prstGeom prst="rect">
            <a:avLst/>
          </a:prstGeom>
        </p:spPr>
        <p:txBody>
          <a:bodyPr lIns="0" tIns="0" rIns="0" bIns="0" rtlCol="0" anchor="t">
            <a:spAutoFit/>
          </a:bodyPr>
          <a:lstStyle/>
          <a:p>
            <a:pPr algn="l">
              <a:lnSpc>
                <a:spcPts val="8400"/>
              </a:lnSpc>
            </a:pPr>
            <a:r>
              <a:rPr lang="en-US" sz="6000">
                <a:solidFill>
                  <a:srgbClr val="000000"/>
                </a:solidFill>
                <a:latin typeface="Merriweather"/>
                <a:ea typeface="Merriweather"/>
                <a:cs typeface="Merriweather"/>
                <a:sym typeface="Merriweather"/>
              </a:rPr>
              <a:t>Latar Belakang Pengembangan Sistem</a:t>
            </a:r>
          </a:p>
        </p:txBody>
      </p:sp>
      <p:sp>
        <p:nvSpPr>
          <p:cNvPr id="17" name="Freeform 17"/>
          <p:cNvSpPr/>
          <p:nvPr/>
        </p:nvSpPr>
        <p:spPr>
          <a:xfrm>
            <a:off x="245926" y="692472"/>
            <a:ext cx="996514" cy="1158176"/>
          </a:xfrm>
          <a:custGeom>
            <a:avLst/>
            <a:gdLst/>
            <a:ahLst/>
            <a:cxnLst/>
            <a:rect l="l" t="t" r="r" b="b"/>
            <a:pathLst>
              <a:path w="996514" h="1158176">
                <a:moveTo>
                  <a:pt x="0" y="0"/>
                </a:moveTo>
                <a:lnTo>
                  <a:pt x="996515" y="0"/>
                </a:lnTo>
                <a:lnTo>
                  <a:pt x="996515" y="1158176"/>
                </a:lnTo>
                <a:lnTo>
                  <a:pt x="0" y="115817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Freeform 18"/>
          <p:cNvSpPr/>
          <p:nvPr/>
        </p:nvSpPr>
        <p:spPr>
          <a:xfrm>
            <a:off x="1525588" y="206752"/>
            <a:ext cx="996514" cy="1158176"/>
          </a:xfrm>
          <a:custGeom>
            <a:avLst/>
            <a:gdLst/>
            <a:ahLst/>
            <a:cxnLst/>
            <a:rect l="l" t="t" r="r" b="b"/>
            <a:pathLst>
              <a:path w="996514" h="1158176">
                <a:moveTo>
                  <a:pt x="0" y="0"/>
                </a:moveTo>
                <a:lnTo>
                  <a:pt x="996515" y="0"/>
                </a:lnTo>
                <a:lnTo>
                  <a:pt x="996515" y="1158176"/>
                </a:lnTo>
                <a:lnTo>
                  <a:pt x="0" y="115817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9" name="Freeform 19"/>
          <p:cNvSpPr/>
          <p:nvPr/>
        </p:nvSpPr>
        <p:spPr>
          <a:xfrm>
            <a:off x="16370070" y="-1144223"/>
            <a:ext cx="3073265" cy="1665966"/>
          </a:xfrm>
          <a:custGeom>
            <a:avLst/>
            <a:gdLst/>
            <a:ahLst/>
            <a:cxnLst/>
            <a:rect l="l" t="t" r="r" b="b"/>
            <a:pathLst>
              <a:path w="3073265" h="1665966">
                <a:moveTo>
                  <a:pt x="0" y="0"/>
                </a:moveTo>
                <a:lnTo>
                  <a:pt x="3073265" y="0"/>
                </a:lnTo>
                <a:lnTo>
                  <a:pt x="3073265" y="1665966"/>
                </a:lnTo>
                <a:lnTo>
                  <a:pt x="0" y="166596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0" name="Freeform 20"/>
          <p:cNvSpPr/>
          <p:nvPr/>
        </p:nvSpPr>
        <p:spPr>
          <a:xfrm rot="290596">
            <a:off x="-226321" y="2274347"/>
            <a:ext cx="1394900" cy="1808623"/>
          </a:xfrm>
          <a:custGeom>
            <a:avLst/>
            <a:gdLst/>
            <a:ahLst/>
            <a:cxnLst/>
            <a:rect l="l" t="t" r="r" b="b"/>
            <a:pathLst>
              <a:path w="1394900" h="1808623">
                <a:moveTo>
                  <a:pt x="0" y="0"/>
                </a:moveTo>
                <a:lnTo>
                  <a:pt x="1394901" y="0"/>
                </a:lnTo>
                <a:lnTo>
                  <a:pt x="1394901" y="1808623"/>
                </a:lnTo>
                <a:lnTo>
                  <a:pt x="0" y="180862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1" name="Freeform 21"/>
          <p:cNvSpPr/>
          <p:nvPr/>
        </p:nvSpPr>
        <p:spPr>
          <a:xfrm rot="1214505">
            <a:off x="3828017" y="798495"/>
            <a:ext cx="1579431" cy="1833882"/>
          </a:xfrm>
          <a:custGeom>
            <a:avLst/>
            <a:gdLst/>
            <a:ahLst/>
            <a:cxnLst/>
            <a:rect l="l" t="t" r="r" b="b"/>
            <a:pathLst>
              <a:path w="1579431" h="1833882">
                <a:moveTo>
                  <a:pt x="0" y="0"/>
                </a:moveTo>
                <a:lnTo>
                  <a:pt x="1579432" y="0"/>
                </a:lnTo>
                <a:lnTo>
                  <a:pt x="1579432" y="1833882"/>
                </a:lnTo>
                <a:lnTo>
                  <a:pt x="0" y="18338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7D7DC"/>
        </a:solidFill>
        <a:effectLst/>
      </p:bgPr>
    </p:bg>
    <p:spTree>
      <p:nvGrpSpPr>
        <p:cNvPr id="1" name=""/>
        <p:cNvGrpSpPr/>
        <p:nvPr/>
      </p:nvGrpSpPr>
      <p:grpSpPr>
        <a:xfrm>
          <a:off x="0" y="0"/>
          <a:ext cx="0" cy="0"/>
          <a:chOff x="0" y="0"/>
          <a:chExt cx="0" cy="0"/>
        </a:xfrm>
      </p:grpSpPr>
      <p:sp>
        <p:nvSpPr>
          <p:cNvPr id="2" name="Freeform 2"/>
          <p:cNvSpPr/>
          <p:nvPr/>
        </p:nvSpPr>
        <p:spPr>
          <a:xfrm>
            <a:off x="-110100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9102009" y="0"/>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532429" y="2380729"/>
            <a:ext cx="10559812" cy="1222866"/>
            <a:chOff x="0" y="0"/>
            <a:chExt cx="2781185" cy="322072"/>
          </a:xfrm>
        </p:grpSpPr>
        <p:sp>
          <p:nvSpPr>
            <p:cNvPr id="5" name="Freeform 5"/>
            <p:cNvSpPr/>
            <p:nvPr/>
          </p:nvSpPr>
          <p:spPr>
            <a:xfrm>
              <a:off x="0" y="0"/>
              <a:ext cx="2781185" cy="322072"/>
            </a:xfrm>
            <a:custGeom>
              <a:avLst/>
              <a:gdLst/>
              <a:ahLst/>
              <a:cxnLst/>
              <a:rect l="l" t="t" r="r" b="b"/>
              <a:pathLst>
                <a:path w="2781185" h="322072">
                  <a:moveTo>
                    <a:pt x="0" y="0"/>
                  </a:moveTo>
                  <a:lnTo>
                    <a:pt x="2781185" y="0"/>
                  </a:lnTo>
                  <a:lnTo>
                    <a:pt x="2781185" y="322072"/>
                  </a:lnTo>
                  <a:lnTo>
                    <a:pt x="0" y="322072"/>
                  </a:lnTo>
                  <a:close/>
                </a:path>
              </a:pathLst>
            </a:custGeom>
            <a:solidFill>
              <a:srgbClr val="FFFBD6"/>
            </a:solidFill>
            <a:ln w="38100" cap="sq">
              <a:solidFill>
                <a:srgbClr val="000000"/>
              </a:solidFill>
              <a:prstDash val="solid"/>
              <a:miter/>
            </a:ln>
          </p:spPr>
        </p:sp>
        <p:sp>
          <p:nvSpPr>
            <p:cNvPr id="6" name="TextBox 6"/>
            <p:cNvSpPr txBox="1"/>
            <p:nvPr/>
          </p:nvSpPr>
          <p:spPr>
            <a:xfrm>
              <a:off x="0" y="-38100"/>
              <a:ext cx="2781185" cy="36017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532429" y="3814954"/>
            <a:ext cx="10559812" cy="1222866"/>
            <a:chOff x="0" y="0"/>
            <a:chExt cx="2781185" cy="322072"/>
          </a:xfrm>
        </p:grpSpPr>
        <p:sp>
          <p:nvSpPr>
            <p:cNvPr id="8" name="Freeform 8"/>
            <p:cNvSpPr/>
            <p:nvPr/>
          </p:nvSpPr>
          <p:spPr>
            <a:xfrm>
              <a:off x="0" y="0"/>
              <a:ext cx="2781185" cy="322072"/>
            </a:xfrm>
            <a:custGeom>
              <a:avLst/>
              <a:gdLst/>
              <a:ahLst/>
              <a:cxnLst/>
              <a:rect l="l" t="t" r="r" b="b"/>
              <a:pathLst>
                <a:path w="2781185" h="322072">
                  <a:moveTo>
                    <a:pt x="0" y="0"/>
                  </a:moveTo>
                  <a:lnTo>
                    <a:pt x="2781185" y="0"/>
                  </a:lnTo>
                  <a:lnTo>
                    <a:pt x="2781185" y="322072"/>
                  </a:lnTo>
                  <a:lnTo>
                    <a:pt x="0" y="322072"/>
                  </a:lnTo>
                  <a:close/>
                </a:path>
              </a:pathLst>
            </a:custGeom>
            <a:solidFill>
              <a:srgbClr val="FFFBD6"/>
            </a:solidFill>
            <a:ln w="38100" cap="sq">
              <a:solidFill>
                <a:srgbClr val="000000"/>
              </a:solidFill>
              <a:prstDash val="solid"/>
              <a:miter/>
            </a:ln>
          </p:spPr>
        </p:sp>
        <p:sp>
          <p:nvSpPr>
            <p:cNvPr id="9" name="TextBox 9"/>
            <p:cNvSpPr txBox="1"/>
            <p:nvPr/>
          </p:nvSpPr>
          <p:spPr>
            <a:xfrm>
              <a:off x="0" y="-38100"/>
              <a:ext cx="2781185" cy="360172"/>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532429" y="5249180"/>
            <a:ext cx="10559812" cy="1222866"/>
            <a:chOff x="0" y="0"/>
            <a:chExt cx="2781185" cy="322072"/>
          </a:xfrm>
        </p:grpSpPr>
        <p:sp>
          <p:nvSpPr>
            <p:cNvPr id="11" name="Freeform 11"/>
            <p:cNvSpPr/>
            <p:nvPr/>
          </p:nvSpPr>
          <p:spPr>
            <a:xfrm>
              <a:off x="0" y="0"/>
              <a:ext cx="2781185" cy="322072"/>
            </a:xfrm>
            <a:custGeom>
              <a:avLst/>
              <a:gdLst/>
              <a:ahLst/>
              <a:cxnLst/>
              <a:rect l="l" t="t" r="r" b="b"/>
              <a:pathLst>
                <a:path w="2781185" h="322072">
                  <a:moveTo>
                    <a:pt x="0" y="0"/>
                  </a:moveTo>
                  <a:lnTo>
                    <a:pt x="2781185" y="0"/>
                  </a:lnTo>
                  <a:lnTo>
                    <a:pt x="2781185" y="322072"/>
                  </a:lnTo>
                  <a:lnTo>
                    <a:pt x="0" y="322072"/>
                  </a:lnTo>
                  <a:close/>
                </a:path>
              </a:pathLst>
            </a:custGeom>
            <a:solidFill>
              <a:srgbClr val="FFFBD6"/>
            </a:solidFill>
            <a:ln w="38100" cap="sq">
              <a:solidFill>
                <a:srgbClr val="000000"/>
              </a:solidFill>
              <a:prstDash val="solid"/>
              <a:miter/>
            </a:ln>
          </p:spPr>
        </p:sp>
        <p:sp>
          <p:nvSpPr>
            <p:cNvPr id="12" name="TextBox 12"/>
            <p:cNvSpPr txBox="1"/>
            <p:nvPr/>
          </p:nvSpPr>
          <p:spPr>
            <a:xfrm>
              <a:off x="0" y="-38100"/>
              <a:ext cx="2781185" cy="36017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532429" y="6683405"/>
            <a:ext cx="10559812" cy="1222866"/>
            <a:chOff x="0" y="0"/>
            <a:chExt cx="2781185" cy="322072"/>
          </a:xfrm>
        </p:grpSpPr>
        <p:sp>
          <p:nvSpPr>
            <p:cNvPr id="14" name="Freeform 14"/>
            <p:cNvSpPr/>
            <p:nvPr/>
          </p:nvSpPr>
          <p:spPr>
            <a:xfrm>
              <a:off x="0" y="0"/>
              <a:ext cx="2781185" cy="322072"/>
            </a:xfrm>
            <a:custGeom>
              <a:avLst/>
              <a:gdLst/>
              <a:ahLst/>
              <a:cxnLst/>
              <a:rect l="l" t="t" r="r" b="b"/>
              <a:pathLst>
                <a:path w="2781185" h="322072">
                  <a:moveTo>
                    <a:pt x="0" y="0"/>
                  </a:moveTo>
                  <a:lnTo>
                    <a:pt x="2781185" y="0"/>
                  </a:lnTo>
                  <a:lnTo>
                    <a:pt x="2781185" y="322072"/>
                  </a:lnTo>
                  <a:lnTo>
                    <a:pt x="0" y="322072"/>
                  </a:lnTo>
                  <a:close/>
                </a:path>
              </a:pathLst>
            </a:custGeom>
            <a:solidFill>
              <a:srgbClr val="FFFBD6"/>
            </a:solidFill>
            <a:ln w="38100" cap="sq">
              <a:solidFill>
                <a:srgbClr val="000000"/>
              </a:solidFill>
              <a:prstDash val="solid"/>
              <a:miter/>
            </a:ln>
          </p:spPr>
        </p:sp>
        <p:sp>
          <p:nvSpPr>
            <p:cNvPr id="15" name="TextBox 15"/>
            <p:cNvSpPr txBox="1"/>
            <p:nvPr/>
          </p:nvSpPr>
          <p:spPr>
            <a:xfrm>
              <a:off x="0" y="-38100"/>
              <a:ext cx="2781185" cy="360172"/>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48352" y="2504434"/>
            <a:ext cx="968154" cy="968154"/>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80"/>
            </a:solidFill>
            <a:ln w="38100" cap="sq">
              <a:solidFill>
                <a:srgbClr val="000000"/>
              </a:solidFill>
              <a:prstDash val="solid"/>
              <a:miter/>
            </a:ln>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048352" y="3942311"/>
            <a:ext cx="968154" cy="96815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80"/>
            </a:solidFill>
            <a:ln w="38100" cap="sq">
              <a:solidFill>
                <a:srgbClr val="000000"/>
              </a:solidFill>
              <a:prstDash val="solid"/>
              <a:miter/>
            </a:ln>
          </p:spPr>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048352" y="5380187"/>
            <a:ext cx="968154" cy="968154"/>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80"/>
            </a:solidFill>
            <a:ln w="38100" cap="sq">
              <a:solidFill>
                <a:srgbClr val="000000"/>
              </a:solidFill>
              <a:prstDash val="solid"/>
              <a:miter/>
            </a:ln>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048352" y="6818063"/>
            <a:ext cx="968154" cy="968154"/>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80"/>
            </a:solidFill>
            <a:ln w="38100" cap="sq">
              <a:solidFill>
                <a:srgbClr val="000000"/>
              </a:solidFill>
              <a:prstDash val="solid"/>
              <a:miter/>
            </a:ln>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8" name="Freeform 28"/>
          <p:cNvSpPr/>
          <p:nvPr/>
        </p:nvSpPr>
        <p:spPr>
          <a:xfrm>
            <a:off x="1146475" y="2602557"/>
            <a:ext cx="771908" cy="771908"/>
          </a:xfrm>
          <a:custGeom>
            <a:avLst/>
            <a:gdLst/>
            <a:ahLst/>
            <a:cxnLst/>
            <a:rect l="l" t="t" r="r" b="b"/>
            <a:pathLst>
              <a:path w="771908" h="771908">
                <a:moveTo>
                  <a:pt x="0" y="0"/>
                </a:moveTo>
                <a:lnTo>
                  <a:pt x="771908" y="0"/>
                </a:lnTo>
                <a:lnTo>
                  <a:pt x="771908" y="771908"/>
                </a:lnTo>
                <a:lnTo>
                  <a:pt x="0" y="7719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p:cNvSpPr/>
          <p:nvPr/>
        </p:nvSpPr>
        <p:spPr>
          <a:xfrm>
            <a:off x="1069427" y="3963386"/>
            <a:ext cx="926003" cy="926003"/>
          </a:xfrm>
          <a:custGeom>
            <a:avLst/>
            <a:gdLst/>
            <a:ahLst/>
            <a:cxnLst/>
            <a:rect l="l" t="t" r="r" b="b"/>
            <a:pathLst>
              <a:path w="926003" h="926003">
                <a:moveTo>
                  <a:pt x="0" y="0"/>
                </a:moveTo>
                <a:lnTo>
                  <a:pt x="926004" y="0"/>
                </a:lnTo>
                <a:lnTo>
                  <a:pt x="926004" y="926003"/>
                </a:lnTo>
                <a:lnTo>
                  <a:pt x="0" y="9260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0" name="Freeform 30"/>
          <p:cNvSpPr/>
          <p:nvPr/>
        </p:nvSpPr>
        <p:spPr>
          <a:xfrm>
            <a:off x="1080664" y="5406880"/>
            <a:ext cx="914767" cy="914767"/>
          </a:xfrm>
          <a:custGeom>
            <a:avLst/>
            <a:gdLst/>
            <a:ahLst/>
            <a:cxnLst/>
            <a:rect l="l" t="t" r="r" b="b"/>
            <a:pathLst>
              <a:path w="914767" h="914767">
                <a:moveTo>
                  <a:pt x="0" y="0"/>
                </a:moveTo>
                <a:lnTo>
                  <a:pt x="914767" y="0"/>
                </a:lnTo>
                <a:lnTo>
                  <a:pt x="914767" y="914767"/>
                </a:lnTo>
                <a:lnTo>
                  <a:pt x="0" y="91476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1" name="Freeform 31"/>
          <p:cNvSpPr/>
          <p:nvPr/>
        </p:nvSpPr>
        <p:spPr>
          <a:xfrm>
            <a:off x="1150796" y="6920507"/>
            <a:ext cx="763267" cy="763267"/>
          </a:xfrm>
          <a:custGeom>
            <a:avLst/>
            <a:gdLst/>
            <a:ahLst/>
            <a:cxnLst/>
            <a:rect l="l" t="t" r="r" b="b"/>
            <a:pathLst>
              <a:path w="763267" h="763267">
                <a:moveTo>
                  <a:pt x="0" y="0"/>
                </a:moveTo>
                <a:lnTo>
                  <a:pt x="763266" y="0"/>
                </a:lnTo>
                <a:lnTo>
                  <a:pt x="763266" y="763267"/>
                </a:lnTo>
                <a:lnTo>
                  <a:pt x="0" y="76326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32" name="Group 32"/>
          <p:cNvGrpSpPr/>
          <p:nvPr/>
        </p:nvGrpSpPr>
        <p:grpSpPr>
          <a:xfrm>
            <a:off x="10815898" y="9258300"/>
            <a:ext cx="7887578" cy="2009278"/>
            <a:chOff x="0" y="0"/>
            <a:chExt cx="2698626" cy="687447"/>
          </a:xfrm>
        </p:grpSpPr>
        <p:sp>
          <p:nvSpPr>
            <p:cNvPr id="33" name="Freeform 33"/>
            <p:cNvSpPr/>
            <p:nvPr/>
          </p:nvSpPr>
          <p:spPr>
            <a:xfrm>
              <a:off x="0" y="0"/>
              <a:ext cx="2698626" cy="687447"/>
            </a:xfrm>
            <a:custGeom>
              <a:avLst/>
              <a:gdLst/>
              <a:ahLst/>
              <a:cxnLst/>
              <a:rect l="l" t="t" r="r" b="b"/>
              <a:pathLst>
                <a:path w="2698626" h="687447">
                  <a:moveTo>
                    <a:pt x="0" y="0"/>
                  </a:moveTo>
                  <a:lnTo>
                    <a:pt x="2698626" y="0"/>
                  </a:lnTo>
                  <a:lnTo>
                    <a:pt x="2698626" y="687447"/>
                  </a:lnTo>
                  <a:lnTo>
                    <a:pt x="0" y="687447"/>
                  </a:lnTo>
                  <a:close/>
                </a:path>
              </a:pathLst>
            </a:custGeom>
            <a:solidFill>
              <a:srgbClr val="8FC9D4"/>
            </a:solidFill>
            <a:ln w="38100" cap="sq">
              <a:solidFill>
                <a:srgbClr val="000000"/>
              </a:solidFill>
              <a:prstDash val="solid"/>
              <a:miter/>
            </a:ln>
          </p:spPr>
        </p:sp>
        <p:sp>
          <p:nvSpPr>
            <p:cNvPr id="34" name="TextBox 34"/>
            <p:cNvSpPr txBox="1"/>
            <p:nvPr/>
          </p:nvSpPr>
          <p:spPr>
            <a:xfrm>
              <a:off x="0" y="-38100"/>
              <a:ext cx="2698626" cy="725547"/>
            </a:xfrm>
            <a:prstGeom prst="rect">
              <a:avLst/>
            </a:prstGeom>
          </p:spPr>
          <p:txBody>
            <a:bodyPr lIns="50800" tIns="50800" rIns="50800" bIns="50800" rtlCol="0" anchor="ctr"/>
            <a:lstStyle/>
            <a:p>
              <a:pPr algn="ctr">
                <a:lnSpc>
                  <a:spcPts val="2659"/>
                </a:lnSpc>
              </a:pPr>
              <a:endParaRPr/>
            </a:p>
          </p:txBody>
        </p:sp>
      </p:grpSp>
      <p:sp>
        <p:nvSpPr>
          <p:cNvPr id="35" name="Freeform 35"/>
          <p:cNvSpPr/>
          <p:nvPr/>
        </p:nvSpPr>
        <p:spPr>
          <a:xfrm>
            <a:off x="12834297" y="5864264"/>
            <a:ext cx="5453155" cy="3469570"/>
          </a:xfrm>
          <a:custGeom>
            <a:avLst/>
            <a:gdLst/>
            <a:ahLst/>
            <a:cxnLst/>
            <a:rect l="l" t="t" r="r" b="b"/>
            <a:pathLst>
              <a:path w="5453155" h="3469570">
                <a:moveTo>
                  <a:pt x="0" y="0"/>
                </a:moveTo>
                <a:lnTo>
                  <a:pt x="5453154" y="0"/>
                </a:lnTo>
                <a:lnTo>
                  <a:pt x="5453154" y="3469569"/>
                </a:lnTo>
                <a:lnTo>
                  <a:pt x="0" y="3469569"/>
                </a:lnTo>
                <a:lnTo>
                  <a:pt x="0" y="0"/>
                </a:lnTo>
                <a:close/>
              </a:path>
            </a:pathLst>
          </a:custGeom>
          <a:blipFill>
            <a:blip r:embed="rId12"/>
            <a:stretch>
              <a:fillRect/>
            </a:stretch>
          </a:blipFill>
        </p:spPr>
      </p:sp>
      <p:sp>
        <p:nvSpPr>
          <p:cNvPr id="36" name="TextBox 36"/>
          <p:cNvSpPr txBox="1"/>
          <p:nvPr/>
        </p:nvSpPr>
        <p:spPr>
          <a:xfrm>
            <a:off x="1538047" y="-928495"/>
            <a:ext cx="10554194" cy="4229100"/>
          </a:xfrm>
          <a:prstGeom prst="rect">
            <a:avLst/>
          </a:prstGeom>
        </p:spPr>
        <p:txBody>
          <a:bodyPr lIns="0" tIns="0" rIns="0" bIns="0" rtlCol="0" anchor="t">
            <a:spAutoFit/>
          </a:bodyPr>
          <a:lstStyle/>
          <a:p>
            <a:pPr algn="l">
              <a:lnSpc>
                <a:spcPts val="8400"/>
              </a:lnSpc>
            </a:pPr>
            <a:endParaRPr/>
          </a:p>
          <a:p>
            <a:pPr algn="l">
              <a:lnSpc>
                <a:spcPts val="8400"/>
              </a:lnSpc>
            </a:pPr>
            <a:r>
              <a:rPr lang="en-US" sz="6000">
                <a:solidFill>
                  <a:srgbClr val="000000"/>
                </a:solidFill>
                <a:latin typeface="Merriweather"/>
                <a:ea typeface="Merriweather"/>
                <a:cs typeface="Merriweather"/>
                <a:sym typeface="Merriweather"/>
              </a:rPr>
              <a:t>Tujuan Pengembangan Sistem</a:t>
            </a:r>
          </a:p>
          <a:p>
            <a:pPr algn="l">
              <a:lnSpc>
                <a:spcPts val="8400"/>
              </a:lnSpc>
            </a:pPr>
            <a:endParaRPr lang="en-US" sz="6000">
              <a:solidFill>
                <a:srgbClr val="000000"/>
              </a:solidFill>
              <a:latin typeface="Merriweather"/>
              <a:ea typeface="Merriweather"/>
              <a:cs typeface="Merriweather"/>
              <a:sym typeface="Merriweather"/>
            </a:endParaRPr>
          </a:p>
        </p:txBody>
      </p:sp>
      <p:sp>
        <p:nvSpPr>
          <p:cNvPr id="37" name="TextBox 37"/>
          <p:cNvSpPr txBox="1"/>
          <p:nvPr/>
        </p:nvSpPr>
        <p:spPr>
          <a:xfrm>
            <a:off x="2366935" y="2445895"/>
            <a:ext cx="9369121" cy="1166495"/>
          </a:xfrm>
          <a:prstGeom prst="rect">
            <a:avLst/>
          </a:prstGeom>
        </p:spPr>
        <p:txBody>
          <a:bodyPr lIns="0" tIns="0" rIns="0" bIns="0" rtlCol="0" anchor="t">
            <a:spAutoFit/>
          </a:bodyPr>
          <a:lstStyle/>
          <a:p>
            <a:pPr algn="l">
              <a:lnSpc>
                <a:spcPts val="4480"/>
              </a:lnSpc>
            </a:pPr>
            <a:r>
              <a:rPr lang="en-US" sz="3200">
                <a:solidFill>
                  <a:srgbClr val="000000"/>
                </a:solidFill>
                <a:latin typeface="Arial MT Pro"/>
                <a:ea typeface="Arial MT Pro"/>
                <a:cs typeface="Arial MT Pro"/>
                <a:sym typeface="Arial MT Pro"/>
              </a:rPr>
              <a:t>Mengembangkan sistem pemesanan tiket bioskop berbasis Python.</a:t>
            </a:r>
          </a:p>
        </p:txBody>
      </p:sp>
      <p:sp>
        <p:nvSpPr>
          <p:cNvPr id="38" name="TextBox 38"/>
          <p:cNvSpPr txBox="1"/>
          <p:nvPr/>
        </p:nvSpPr>
        <p:spPr>
          <a:xfrm>
            <a:off x="2339772" y="3934446"/>
            <a:ext cx="9942612" cy="1166495"/>
          </a:xfrm>
          <a:prstGeom prst="rect">
            <a:avLst/>
          </a:prstGeom>
        </p:spPr>
        <p:txBody>
          <a:bodyPr lIns="0" tIns="0" rIns="0" bIns="0" rtlCol="0" anchor="t">
            <a:spAutoFit/>
          </a:bodyPr>
          <a:lstStyle/>
          <a:p>
            <a:pPr algn="l">
              <a:lnSpc>
                <a:spcPts val="4480"/>
              </a:lnSpc>
            </a:pPr>
            <a:r>
              <a:rPr lang="en-US" sz="3200">
                <a:solidFill>
                  <a:srgbClr val="000000"/>
                </a:solidFill>
                <a:latin typeface="Arial MT Pro"/>
                <a:ea typeface="Arial MT Pro"/>
                <a:cs typeface="Arial MT Pro"/>
                <a:sym typeface="Arial MT Pro"/>
              </a:rPr>
              <a:t>Menerapkan konsep Encapsulation untuk menjaga keamanan data pada setiap objek.</a:t>
            </a:r>
          </a:p>
        </p:txBody>
      </p:sp>
      <p:sp>
        <p:nvSpPr>
          <p:cNvPr id="39" name="TextBox 39"/>
          <p:cNvSpPr txBox="1"/>
          <p:nvPr/>
        </p:nvSpPr>
        <p:spPr>
          <a:xfrm>
            <a:off x="2366935" y="5283055"/>
            <a:ext cx="9477774" cy="1166495"/>
          </a:xfrm>
          <a:prstGeom prst="rect">
            <a:avLst/>
          </a:prstGeom>
        </p:spPr>
        <p:txBody>
          <a:bodyPr lIns="0" tIns="0" rIns="0" bIns="0" rtlCol="0" anchor="t">
            <a:spAutoFit/>
          </a:bodyPr>
          <a:lstStyle/>
          <a:p>
            <a:pPr algn="l">
              <a:lnSpc>
                <a:spcPts val="4480"/>
              </a:lnSpc>
            </a:pPr>
            <a:r>
              <a:rPr lang="en-US" sz="3200">
                <a:solidFill>
                  <a:srgbClr val="000000"/>
                </a:solidFill>
                <a:latin typeface="Arial MT Pro"/>
                <a:ea typeface="Arial MT Pro"/>
                <a:cs typeface="Arial MT Pro"/>
                <a:sym typeface="Arial MT Pro"/>
              </a:rPr>
              <a:t>Mengimplementasikan konsep Polymorphism dalam proses perhitungan harga berdasarkan jenis tiket.</a:t>
            </a:r>
          </a:p>
        </p:txBody>
      </p:sp>
      <p:sp>
        <p:nvSpPr>
          <p:cNvPr id="40" name="TextBox 40"/>
          <p:cNvSpPr txBox="1"/>
          <p:nvPr/>
        </p:nvSpPr>
        <p:spPr>
          <a:xfrm>
            <a:off x="2435211" y="6739776"/>
            <a:ext cx="9232569" cy="1166495"/>
          </a:xfrm>
          <a:prstGeom prst="rect">
            <a:avLst/>
          </a:prstGeom>
        </p:spPr>
        <p:txBody>
          <a:bodyPr lIns="0" tIns="0" rIns="0" bIns="0" rtlCol="0" anchor="t">
            <a:spAutoFit/>
          </a:bodyPr>
          <a:lstStyle/>
          <a:p>
            <a:pPr algn="l">
              <a:lnSpc>
                <a:spcPts val="4480"/>
              </a:lnSpc>
            </a:pPr>
            <a:r>
              <a:rPr lang="en-US" sz="3200">
                <a:solidFill>
                  <a:srgbClr val="000000"/>
                </a:solidFill>
                <a:latin typeface="Arial MT Pro"/>
                <a:ea typeface="Arial MT Pro"/>
                <a:cs typeface="Arial MT Pro"/>
                <a:sym typeface="Arial MT Pro"/>
              </a:rPr>
              <a:t>Menghasilkan aplikasi yang terstruktur, mudah dipahami, dan mudah dikembangkan.</a:t>
            </a:r>
          </a:p>
        </p:txBody>
      </p:sp>
      <p:sp>
        <p:nvSpPr>
          <p:cNvPr id="41" name="Freeform 41"/>
          <p:cNvSpPr/>
          <p:nvPr/>
        </p:nvSpPr>
        <p:spPr>
          <a:xfrm rot="-5237842">
            <a:off x="3489712" y="8258306"/>
            <a:ext cx="738707" cy="858546"/>
          </a:xfrm>
          <a:custGeom>
            <a:avLst/>
            <a:gdLst/>
            <a:ahLst/>
            <a:cxnLst/>
            <a:rect l="l" t="t" r="r" b="b"/>
            <a:pathLst>
              <a:path w="738707" h="858546">
                <a:moveTo>
                  <a:pt x="0" y="0"/>
                </a:moveTo>
                <a:lnTo>
                  <a:pt x="738707" y="0"/>
                </a:lnTo>
                <a:lnTo>
                  <a:pt x="738707" y="858546"/>
                </a:lnTo>
                <a:lnTo>
                  <a:pt x="0" y="858546"/>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42" name="Freeform 42"/>
          <p:cNvSpPr/>
          <p:nvPr/>
        </p:nvSpPr>
        <p:spPr>
          <a:xfrm rot="-5237842">
            <a:off x="3043501" y="9036674"/>
            <a:ext cx="738707" cy="858546"/>
          </a:xfrm>
          <a:custGeom>
            <a:avLst/>
            <a:gdLst/>
            <a:ahLst/>
            <a:cxnLst/>
            <a:rect l="l" t="t" r="r" b="b"/>
            <a:pathLst>
              <a:path w="738707" h="858546">
                <a:moveTo>
                  <a:pt x="0" y="0"/>
                </a:moveTo>
                <a:lnTo>
                  <a:pt x="738707" y="0"/>
                </a:lnTo>
                <a:lnTo>
                  <a:pt x="738707" y="858545"/>
                </a:lnTo>
                <a:lnTo>
                  <a:pt x="0" y="85854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43" name="Freeform 43"/>
          <p:cNvSpPr/>
          <p:nvPr/>
        </p:nvSpPr>
        <p:spPr>
          <a:xfrm>
            <a:off x="12620697" y="-612179"/>
            <a:ext cx="2258615" cy="1224358"/>
          </a:xfrm>
          <a:custGeom>
            <a:avLst/>
            <a:gdLst/>
            <a:ahLst/>
            <a:cxnLst/>
            <a:rect l="l" t="t" r="r" b="b"/>
            <a:pathLst>
              <a:path w="2258615" h="1224358">
                <a:moveTo>
                  <a:pt x="0" y="0"/>
                </a:moveTo>
                <a:lnTo>
                  <a:pt x="2258616" y="0"/>
                </a:lnTo>
                <a:lnTo>
                  <a:pt x="2258616" y="1224358"/>
                </a:lnTo>
                <a:lnTo>
                  <a:pt x="0" y="122435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44" name="Freeform 44"/>
          <p:cNvSpPr/>
          <p:nvPr/>
        </p:nvSpPr>
        <p:spPr>
          <a:xfrm flipH="1">
            <a:off x="10575681" y="-612179"/>
            <a:ext cx="2258615" cy="1224358"/>
          </a:xfrm>
          <a:custGeom>
            <a:avLst/>
            <a:gdLst/>
            <a:ahLst/>
            <a:cxnLst/>
            <a:rect l="l" t="t" r="r" b="b"/>
            <a:pathLst>
              <a:path w="2258615" h="1224358">
                <a:moveTo>
                  <a:pt x="2258616" y="0"/>
                </a:moveTo>
                <a:lnTo>
                  <a:pt x="0" y="0"/>
                </a:lnTo>
                <a:lnTo>
                  <a:pt x="0" y="1224358"/>
                </a:lnTo>
                <a:lnTo>
                  <a:pt x="2258616" y="1224358"/>
                </a:lnTo>
                <a:lnTo>
                  <a:pt x="2258616"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45" name="Freeform 45"/>
          <p:cNvSpPr/>
          <p:nvPr/>
        </p:nvSpPr>
        <p:spPr>
          <a:xfrm>
            <a:off x="4526611" y="8489639"/>
            <a:ext cx="3214329" cy="1003422"/>
          </a:xfrm>
          <a:custGeom>
            <a:avLst/>
            <a:gdLst/>
            <a:ahLst/>
            <a:cxnLst/>
            <a:rect l="l" t="t" r="r" b="b"/>
            <a:pathLst>
              <a:path w="3214329" h="1003422">
                <a:moveTo>
                  <a:pt x="0" y="0"/>
                </a:moveTo>
                <a:lnTo>
                  <a:pt x="3214330" y="0"/>
                </a:lnTo>
                <a:lnTo>
                  <a:pt x="3214330" y="1003423"/>
                </a:lnTo>
                <a:lnTo>
                  <a:pt x="0" y="1003423"/>
                </a:lnTo>
                <a:lnTo>
                  <a:pt x="0" y="0"/>
                </a:lnTo>
                <a:close/>
              </a:path>
            </a:pathLst>
          </a:custGeom>
          <a:blipFill>
            <a:blip r:embed="rId19">
              <a:extLst>
                <a:ext uri="{96DAC541-7B7A-43D3-8B79-37D633B846F1}">
                  <asvg:svgBlip xmlns:asvg="http://schemas.microsoft.com/office/drawing/2016/SVG/main" r:embed="rId20"/>
                </a:ext>
              </a:extLst>
            </a:blip>
            <a:stretch>
              <a:fillRect b="-73649"/>
            </a:stretch>
          </a:blipFill>
        </p:spPr>
      </p:sp>
      <p:sp>
        <p:nvSpPr>
          <p:cNvPr id="46" name="Freeform 46"/>
          <p:cNvSpPr/>
          <p:nvPr/>
        </p:nvSpPr>
        <p:spPr>
          <a:xfrm rot="-911726">
            <a:off x="12732374" y="2136179"/>
            <a:ext cx="1194869" cy="1549263"/>
          </a:xfrm>
          <a:custGeom>
            <a:avLst/>
            <a:gdLst/>
            <a:ahLst/>
            <a:cxnLst/>
            <a:rect l="l" t="t" r="r" b="b"/>
            <a:pathLst>
              <a:path w="1194869" h="1549263">
                <a:moveTo>
                  <a:pt x="0" y="0"/>
                </a:moveTo>
                <a:lnTo>
                  <a:pt x="1194869" y="0"/>
                </a:lnTo>
                <a:lnTo>
                  <a:pt x="1194869" y="1549264"/>
                </a:lnTo>
                <a:lnTo>
                  <a:pt x="0" y="154926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47" name="Freeform 47"/>
          <p:cNvSpPr/>
          <p:nvPr/>
        </p:nvSpPr>
        <p:spPr>
          <a:xfrm rot="1214505">
            <a:off x="16088229" y="571053"/>
            <a:ext cx="1438448" cy="1670186"/>
          </a:xfrm>
          <a:custGeom>
            <a:avLst/>
            <a:gdLst/>
            <a:ahLst/>
            <a:cxnLst/>
            <a:rect l="l" t="t" r="r" b="b"/>
            <a:pathLst>
              <a:path w="1438448" h="1670186">
                <a:moveTo>
                  <a:pt x="0" y="0"/>
                </a:moveTo>
                <a:lnTo>
                  <a:pt x="1438448" y="0"/>
                </a:lnTo>
                <a:lnTo>
                  <a:pt x="1438448" y="1670187"/>
                </a:lnTo>
                <a:lnTo>
                  <a:pt x="0" y="16701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7D7DC"/>
        </a:solidFill>
        <a:effectLst/>
      </p:bgPr>
    </p:bg>
    <p:spTree>
      <p:nvGrpSpPr>
        <p:cNvPr id="1" name=""/>
        <p:cNvGrpSpPr/>
        <p:nvPr/>
      </p:nvGrpSpPr>
      <p:grpSpPr>
        <a:xfrm>
          <a:off x="0" y="0"/>
          <a:ext cx="0" cy="0"/>
          <a:chOff x="0" y="0"/>
          <a:chExt cx="0" cy="0"/>
        </a:xfrm>
      </p:grpSpPr>
      <p:sp>
        <p:nvSpPr>
          <p:cNvPr id="2" name="Freeform 2"/>
          <p:cNvSpPr/>
          <p:nvPr/>
        </p:nvSpPr>
        <p:spPr>
          <a:xfrm>
            <a:off x="-110100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9102009" y="0"/>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17306" y="2539273"/>
            <a:ext cx="7067710" cy="7201619"/>
            <a:chOff x="0" y="0"/>
            <a:chExt cx="1861455" cy="1896723"/>
          </a:xfrm>
        </p:grpSpPr>
        <p:sp>
          <p:nvSpPr>
            <p:cNvPr id="5" name="Freeform 5"/>
            <p:cNvSpPr/>
            <p:nvPr/>
          </p:nvSpPr>
          <p:spPr>
            <a:xfrm>
              <a:off x="0" y="0"/>
              <a:ext cx="1861455" cy="1896723"/>
            </a:xfrm>
            <a:custGeom>
              <a:avLst/>
              <a:gdLst/>
              <a:ahLst/>
              <a:cxnLst/>
              <a:rect l="l" t="t" r="r" b="b"/>
              <a:pathLst>
                <a:path w="1861455" h="1896723">
                  <a:moveTo>
                    <a:pt x="0" y="0"/>
                  </a:moveTo>
                  <a:lnTo>
                    <a:pt x="1861455" y="0"/>
                  </a:lnTo>
                  <a:lnTo>
                    <a:pt x="1861455" y="1896723"/>
                  </a:lnTo>
                  <a:lnTo>
                    <a:pt x="0" y="1896723"/>
                  </a:lnTo>
                  <a:close/>
                </a:path>
              </a:pathLst>
            </a:custGeom>
            <a:solidFill>
              <a:srgbClr val="FFFBD6"/>
            </a:solidFill>
            <a:ln w="38100" cap="sq">
              <a:solidFill>
                <a:srgbClr val="000000"/>
              </a:solidFill>
              <a:prstDash val="solid"/>
              <a:miter/>
            </a:ln>
          </p:spPr>
        </p:sp>
        <p:sp>
          <p:nvSpPr>
            <p:cNvPr id="6" name="TextBox 6"/>
            <p:cNvSpPr txBox="1"/>
            <p:nvPr/>
          </p:nvSpPr>
          <p:spPr>
            <a:xfrm>
              <a:off x="0" y="-38100"/>
              <a:ext cx="1861455" cy="1934823"/>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299518" y="9740892"/>
            <a:ext cx="19568482" cy="2009278"/>
            <a:chOff x="0" y="0"/>
            <a:chExt cx="6695085" cy="687447"/>
          </a:xfrm>
        </p:grpSpPr>
        <p:sp>
          <p:nvSpPr>
            <p:cNvPr id="8" name="Freeform 8"/>
            <p:cNvSpPr/>
            <p:nvPr/>
          </p:nvSpPr>
          <p:spPr>
            <a:xfrm>
              <a:off x="0" y="0"/>
              <a:ext cx="6695085" cy="687447"/>
            </a:xfrm>
            <a:custGeom>
              <a:avLst/>
              <a:gdLst/>
              <a:ahLst/>
              <a:cxnLst/>
              <a:rect l="l" t="t" r="r" b="b"/>
              <a:pathLst>
                <a:path w="6695085" h="687447">
                  <a:moveTo>
                    <a:pt x="0" y="0"/>
                  </a:moveTo>
                  <a:lnTo>
                    <a:pt x="6695085" y="0"/>
                  </a:lnTo>
                  <a:lnTo>
                    <a:pt x="6695085" y="687447"/>
                  </a:lnTo>
                  <a:lnTo>
                    <a:pt x="0" y="687447"/>
                  </a:lnTo>
                  <a:close/>
                </a:path>
              </a:pathLst>
            </a:custGeom>
            <a:solidFill>
              <a:srgbClr val="8FC9D4"/>
            </a:solidFill>
            <a:ln w="38100" cap="sq">
              <a:solidFill>
                <a:srgbClr val="000000"/>
              </a:solidFill>
              <a:prstDash val="solid"/>
              <a:miter/>
            </a:ln>
          </p:spPr>
        </p:sp>
        <p:sp>
          <p:nvSpPr>
            <p:cNvPr id="9" name="TextBox 9"/>
            <p:cNvSpPr txBox="1"/>
            <p:nvPr/>
          </p:nvSpPr>
          <p:spPr>
            <a:xfrm>
              <a:off x="0" y="-38100"/>
              <a:ext cx="6695085" cy="725547"/>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7485571" y="2539273"/>
            <a:ext cx="10802429" cy="7201619"/>
          </a:xfrm>
          <a:custGeom>
            <a:avLst/>
            <a:gdLst/>
            <a:ahLst/>
            <a:cxnLst/>
            <a:rect l="l" t="t" r="r" b="b"/>
            <a:pathLst>
              <a:path w="10802429" h="7201619">
                <a:moveTo>
                  <a:pt x="0" y="0"/>
                </a:moveTo>
                <a:lnTo>
                  <a:pt x="10802429" y="0"/>
                </a:lnTo>
                <a:lnTo>
                  <a:pt x="10802429" y="7201619"/>
                </a:lnTo>
                <a:lnTo>
                  <a:pt x="0" y="7201619"/>
                </a:lnTo>
                <a:lnTo>
                  <a:pt x="0" y="0"/>
                </a:lnTo>
                <a:close/>
              </a:path>
            </a:pathLst>
          </a:custGeom>
          <a:blipFill>
            <a:blip r:embed="rId4"/>
            <a:stretch>
              <a:fillRect/>
            </a:stretch>
          </a:blipFill>
        </p:spPr>
      </p:sp>
      <p:sp>
        <p:nvSpPr>
          <p:cNvPr id="11" name="TextBox 11"/>
          <p:cNvSpPr txBox="1"/>
          <p:nvPr/>
        </p:nvSpPr>
        <p:spPr>
          <a:xfrm>
            <a:off x="1028700" y="-395062"/>
            <a:ext cx="17831951" cy="2934335"/>
          </a:xfrm>
          <a:prstGeom prst="rect">
            <a:avLst/>
          </a:prstGeom>
        </p:spPr>
        <p:txBody>
          <a:bodyPr lIns="0" tIns="0" rIns="0" bIns="0" rtlCol="0" anchor="t">
            <a:spAutoFit/>
          </a:bodyPr>
          <a:lstStyle/>
          <a:p>
            <a:pPr algn="l">
              <a:lnSpc>
                <a:spcPts val="7840"/>
              </a:lnSpc>
            </a:pPr>
            <a:endParaRPr/>
          </a:p>
          <a:p>
            <a:pPr algn="l">
              <a:lnSpc>
                <a:spcPts val="7840"/>
              </a:lnSpc>
            </a:pPr>
            <a:r>
              <a:rPr lang="en-US" sz="5600">
                <a:solidFill>
                  <a:srgbClr val="000000"/>
                </a:solidFill>
                <a:latin typeface="Merriweather"/>
                <a:ea typeface="Merriweather"/>
                <a:cs typeface="Merriweather"/>
                <a:sym typeface="Merriweather"/>
              </a:rPr>
              <a:t>Analisis Alur Sistem Pemesanan Tiket Bioskop</a:t>
            </a:r>
          </a:p>
          <a:p>
            <a:pPr algn="l">
              <a:lnSpc>
                <a:spcPts val="7840"/>
              </a:lnSpc>
            </a:pPr>
            <a:endParaRPr lang="en-US" sz="5600">
              <a:solidFill>
                <a:srgbClr val="000000"/>
              </a:solidFill>
              <a:latin typeface="Merriweather"/>
              <a:ea typeface="Merriweather"/>
              <a:cs typeface="Merriweather"/>
              <a:sym typeface="Merriweather"/>
            </a:endParaRPr>
          </a:p>
        </p:txBody>
      </p:sp>
      <p:sp>
        <p:nvSpPr>
          <p:cNvPr id="12" name="TextBox 12"/>
          <p:cNvSpPr txBox="1"/>
          <p:nvPr/>
        </p:nvSpPr>
        <p:spPr>
          <a:xfrm>
            <a:off x="489764" y="3034030"/>
            <a:ext cx="6522795" cy="6224270"/>
          </a:xfrm>
          <a:prstGeom prst="rect">
            <a:avLst/>
          </a:prstGeom>
        </p:spPr>
        <p:txBody>
          <a:bodyPr lIns="0" tIns="0" rIns="0" bIns="0" rtlCol="0" anchor="t">
            <a:spAutoFit/>
          </a:bodyPr>
          <a:lstStyle/>
          <a:p>
            <a:pPr algn="just">
              <a:lnSpc>
                <a:spcPts val="4480"/>
              </a:lnSpc>
            </a:pPr>
            <a:r>
              <a:rPr lang="en-US" sz="3200">
                <a:solidFill>
                  <a:srgbClr val="000000"/>
                </a:solidFill>
                <a:latin typeface="Arial MT Pro"/>
                <a:ea typeface="Arial MT Pro"/>
                <a:cs typeface="Arial MT Pro"/>
                <a:sym typeface="Arial MT Pro"/>
              </a:rPr>
              <a:t>Alur sistem dimulai dari proses input data tiket oleh pengguna yang meliputi ID tiket, judul film, dan nomor kursi. Selanjutnya, pengguna memilih jenis tiket, yaitu Reguler, VIP, atau IMAX. Berdasarkan jenis tiket yang dipilih, sistem akan menghitung harga secara otomatis, kemudian menampilkan informasi pemesanan sebagai hasil akhir proses.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7D7DC"/>
        </a:solidFill>
        <a:effectLst/>
      </p:bgPr>
    </p:bg>
    <p:spTree>
      <p:nvGrpSpPr>
        <p:cNvPr id="1" name=""/>
        <p:cNvGrpSpPr/>
        <p:nvPr/>
      </p:nvGrpSpPr>
      <p:grpSpPr>
        <a:xfrm>
          <a:off x="0" y="0"/>
          <a:ext cx="0" cy="0"/>
          <a:chOff x="0" y="0"/>
          <a:chExt cx="0" cy="0"/>
        </a:xfrm>
      </p:grpSpPr>
      <p:sp>
        <p:nvSpPr>
          <p:cNvPr id="2" name="Freeform 2"/>
          <p:cNvSpPr/>
          <p:nvPr/>
        </p:nvSpPr>
        <p:spPr>
          <a:xfrm>
            <a:off x="-110100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9102009" y="0"/>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81025" y="2459282"/>
            <a:ext cx="8810406" cy="6799018"/>
            <a:chOff x="0" y="0"/>
            <a:chExt cx="2436398" cy="1880176"/>
          </a:xfrm>
        </p:grpSpPr>
        <p:sp>
          <p:nvSpPr>
            <p:cNvPr id="5" name="Freeform 5"/>
            <p:cNvSpPr/>
            <p:nvPr/>
          </p:nvSpPr>
          <p:spPr>
            <a:xfrm>
              <a:off x="0" y="0"/>
              <a:ext cx="2436398" cy="1880176"/>
            </a:xfrm>
            <a:custGeom>
              <a:avLst/>
              <a:gdLst/>
              <a:ahLst/>
              <a:cxnLst/>
              <a:rect l="l" t="t" r="r" b="b"/>
              <a:pathLst>
                <a:path w="2436398" h="1880176">
                  <a:moveTo>
                    <a:pt x="0" y="0"/>
                  </a:moveTo>
                  <a:lnTo>
                    <a:pt x="2436398" y="0"/>
                  </a:lnTo>
                  <a:lnTo>
                    <a:pt x="2436398" y="1880176"/>
                  </a:lnTo>
                  <a:lnTo>
                    <a:pt x="0" y="1880176"/>
                  </a:lnTo>
                  <a:close/>
                </a:path>
              </a:pathLst>
            </a:custGeom>
            <a:solidFill>
              <a:srgbClr val="FFFFFF"/>
            </a:solidFill>
            <a:ln w="38100" cap="sq">
              <a:solidFill>
                <a:srgbClr val="000000"/>
              </a:solidFill>
              <a:prstDash val="solid"/>
              <a:miter/>
            </a:ln>
          </p:spPr>
        </p:sp>
        <p:sp>
          <p:nvSpPr>
            <p:cNvPr id="6" name="TextBox 6"/>
            <p:cNvSpPr txBox="1"/>
            <p:nvPr/>
          </p:nvSpPr>
          <p:spPr>
            <a:xfrm>
              <a:off x="0" y="-38100"/>
              <a:ext cx="2436398" cy="1918276"/>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427573" y="9477844"/>
            <a:ext cx="19268964" cy="2009278"/>
            <a:chOff x="0" y="0"/>
            <a:chExt cx="6592609" cy="687447"/>
          </a:xfrm>
        </p:grpSpPr>
        <p:sp>
          <p:nvSpPr>
            <p:cNvPr id="8" name="Freeform 8"/>
            <p:cNvSpPr/>
            <p:nvPr/>
          </p:nvSpPr>
          <p:spPr>
            <a:xfrm>
              <a:off x="0" y="0"/>
              <a:ext cx="6592609" cy="687447"/>
            </a:xfrm>
            <a:custGeom>
              <a:avLst/>
              <a:gdLst/>
              <a:ahLst/>
              <a:cxnLst/>
              <a:rect l="l" t="t" r="r" b="b"/>
              <a:pathLst>
                <a:path w="6592609" h="687447">
                  <a:moveTo>
                    <a:pt x="0" y="0"/>
                  </a:moveTo>
                  <a:lnTo>
                    <a:pt x="6592609" y="0"/>
                  </a:lnTo>
                  <a:lnTo>
                    <a:pt x="6592609" y="687447"/>
                  </a:lnTo>
                  <a:lnTo>
                    <a:pt x="0" y="687447"/>
                  </a:lnTo>
                  <a:close/>
                </a:path>
              </a:pathLst>
            </a:custGeom>
            <a:solidFill>
              <a:srgbClr val="8FC9D4"/>
            </a:solidFill>
            <a:ln w="38100" cap="sq">
              <a:solidFill>
                <a:srgbClr val="000000"/>
              </a:solidFill>
              <a:prstDash val="solid"/>
              <a:miter/>
            </a:ln>
          </p:spPr>
        </p:sp>
        <p:sp>
          <p:nvSpPr>
            <p:cNvPr id="9" name="TextBox 9"/>
            <p:cNvSpPr txBox="1"/>
            <p:nvPr/>
          </p:nvSpPr>
          <p:spPr>
            <a:xfrm>
              <a:off x="0" y="-38100"/>
              <a:ext cx="6592609" cy="725547"/>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rot="1214505">
            <a:off x="15653304" y="232682"/>
            <a:ext cx="1579431" cy="1833882"/>
          </a:xfrm>
          <a:custGeom>
            <a:avLst/>
            <a:gdLst/>
            <a:ahLst/>
            <a:cxnLst/>
            <a:rect l="l" t="t" r="r" b="b"/>
            <a:pathLst>
              <a:path w="1579431" h="1833882">
                <a:moveTo>
                  <a:pt x="0" y="0"/>
                </a:moveTo>
                <a:lnTo>
                  <a:pt x="1579431" y="0"/>
                </a:lnTo>
                <a:lnTo>
                  <a:pt x="1579431" y="1833883"/>
                </a:lnTo>
                <a:lnTo>
                  <a:pt x="0" y="18338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591233" y="920957"/>
            <a:ext cx="2512909" cy="1362206"/>
          </a:xfrm>
          <a:custGeom>
            <a:avLst/>
            <a:gdLst/>
            <a:ahLst/>
            <a:cxnLst/>
            <a:rect l="l" t="t" r="r" b="b"/>
            <a:pathLst>
              <a:path w="2512909" h="1362206">
                <a:moveTo>
                  <a:pt x="0" y="0"/>
                </a:moveTo>
                <a:lnTo>
                  <a:pt x="2512910" y="0"/>
                </a:lnTo>
                <a:lnTo>
                  <a:pt x="2512910" y="1362206"/>
                </a:lnTo>
                <a:lnTo>
                  <a:pt x="0" y="13622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flipH="1">
            <a:off x="-1684028" y="920957"/>
            <a:ext cx="2512909" cy="1362206"/>
          </a:xfrm>
          <a:custGeom>
            <a:avLst/>
            <a:gdLst/>
            <a:ahLst/>
            <a:cxnLst/>
            <a:rect l="l" t="t" r="r" b="b"/>
            <a:pathLst>
              <a:path w="2512909" h="1362206">
                <a:moveTo>
                  <a:pt x="2512910" y="0"/>
                </a:moveTo>
                <a:lnTo>
                  <a:pt x="0" y="0"/>
                </a:lnTo>
                <a:lnTo>
                  <a:pt x="0" y="1362206"/>
                </a:lnTo>
                <a:lnTo>
                  <a:pt x="2512910" y="1362206"/>
                </a:lnTo>
                <a:lnTo>
                  <a:pt x="251291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9243226" y="3376498"/>
            <a:ext cx="8898693" cy="5008176"/>
          </a:xfrm>
          <a:custGeom>
            <a:avLst/>
            <a:gdLst/>
            <a:ahLst/>
            <a:cxnLst/>
            <a:rect l="l" t="t" r="r" b="b"/>
            <a:pathLst>
              <a:path w="8898693" h="5008176">
                <a:moveTo>
                  <a:pt x="0" y="0"/>
                </a:moveTo>
                <a:lnTo>
                  <a:pt x="8898693" y="0"/>
                </a:lnTo>
                <a:lnTo>
                  <a:pt x="8898693" y="5008176"/>
                </a:lnTo>
                <a:lnTo>
                  <a:pt x="0" y="5008176"/>
                </a:lnTo>
                <a:lnTo>
                  <a:pt x="0" y="0"/>
                </a:lnTo>
                <a:close/>
              </a:path>
            </a:pathLst>
          </a:custGeom>
          <a:blipFill>
            <a:blip r:embed="rId8"/>
            <a:stretch>
              <a:fillRect/>
            </a:stretch>
          </a:blipFill>
        </p:spPr>
      </p:sp>
      <p:sp>
        <p:nvSpPr>
          <p:cNvPr id="14" name="TextBox 14"/>
          <p:cNvSpPr txBox="1"/>
          <p:nvPr/>
        </p:nvSpPr>
        <p:spPr>
          <a:xfrm>
            <a:off x="3892197" y="-519592"/>
            <a:ext cx="10702059" cy="2121652"/>
          </a:xfrm>
          <a:prstGeom prst="rect">
            <a:avLst/>
          </a:prstGeom>
        </p:spPr>
        <p:txBody>
          <a:bodyPr lIns="0" tIns="0" rIns="0" bIns="0" rtlCol="0" anchor="t">
            <a:spAutoFit/>
          </a:bodyPr>
          <a:lstStyle/>
          <a:p>
            <a:pPr algn="ctr">
              <a:lnSpc>
                <a:spcPts val="8533"/>
              </a:lnSpc>
            </a:pPr>
            <a:endParaRPr/>
          </a:p>
          <a:p>
            <a:pPr algn="ctr">
              <a:lnSpc>
                <a:spcPts val="8533"/>
              </a:lnSpc>
            </a:pPr>
            <a:r>
              <a:rPr lang="en-US" sz="6095">
                <a:solidFill>
                  <a:srgbClr val="000000"/>
                </a:solidFill>
                <a:latin typeface="Merriweather"/>
                <a:ea typeface="Merriweather"/>
                <a:cs typeface="Merriweather"/>
                <a:sym typeface="Merriweather"/>
              </a:rPr>
              <a:t>Perancangan Class Diagram</a:t>
            </a:r>
          </a:p>
        </p:txBody>
      </p:sp>
      <p:sp>
        <p:nvSpPr>
          <p:cNvPr id="15" name="TextBox 15"/>
          <p:cNvSpPr txBox="1"/>
          <p:nvPr/>
        </p:nvSpPr>
        <p:spPr>
          <a:xfrm>
            <a:off x="531307" y="2645111"/>
            <a:ext cx="8309842" cy="6337600"/>
          </a:xfrm>
          <a:prstGeom prst="rect">
            <a:avLst/>
          </a:prstGeom>
        </p:spPr>
        <p:txBody>
          <a:bodyPr lIns="0" tIns="0" rIns="0" bIns="0" rtlCol="0" anchor="t">
            <a:spAutoFit/>
          </a:bodyPr>
          <a:lstStyle/>
          <a:p>
            <a:pPr algn="just">
              <a:lnSpc>
                <a:spcPts val="4533"/>
              </a:lnSpc>
            </a:pPr>
            <a:r>
              <a:rPr lang="en-US" sz="3238">
                <a:solidFill>
                  <a:srgbClr val="000000"/>
                </a:solidFill>
                <a:latin typeface="Arial MT Pro"/>
                <a:ea typeface="Arial MT Pro"/>
                <a:cs typeface="Arial MT Pro"/>
                <a:sym typeface="Arial MT Pro"/>
              </a:rPr>
              <a:t>Perancangan sistem dilakukan menggunakan konsep Object-Oriented Programming (OOP) dengan satu class induk, yaitu TiketBioskop, yang berperan sebagai Abstract Class. Class tersebut menjadi dasar bagi tiga class turunan, yaitu TiketReguler, TiketVIP, dan TiketIMAX. Selanjutnya, class SistemPemesanan berfungsi mengelola seluruh objek tiket, mulai dari proses penyimpanan data hingga menampilkan hasil pemesanan.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7D7DC"/>
        </a:solidFill>
        <a:effectLst/>
      </p:bgPr>
    </p:bg>
    <p:spTree>
      <p:nvGrpSpPr>
        <p:cNvPr id="1" name=""/>
        <p:cNvGrpSpPr/>
        <p:nvPr/>
      </p:nvGrpSpPr>
      <p:grpSpPr>
        <a:xfrm>
          <a:off x="0" y="0"/>
          <a:ext cx="0" cy="0"/>
          <a:chOff x="0" y="0"/>
          <a:chExt cx="0" cy="0"/>
        </a:xfrm>
      </p:grpSpPr>
      <p:sp>
        <p:nvSpPr>
          <p:cNvPr id="2" name="Freeform 2"/>
          <p:cNvSpPr/>
          <p:nvPr/>
        </p:nvSpPr>
        <p:spPr>
          <a:xfrm>
            <a:off x="-110100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9144000" y="0"/>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44662" y="1896534"/>
            <a:ext cx="8941329" cy="7410890"/>
            <a:chOff x="0" y="0"/>
            <a:chExt cx="2472603" cy="2049381"/>
          </a:xfrm>
        </p:grpSpPr>
        <p:sp>
          <p:nvSpPr>
            <p:cNvPr id="5" name="Freeform 5"/>
            <p:cNvSpPr/>
            <p:nvPr/>
          </p:nvSpPr>
          <p:spPr>
            <a:xfrm>
              <a:off x="0" y="0"/>
              <a:ext cx="2472603" cy="2049381"/>
            </a:xfrm>
            <a:custGeom>
              <a:avLst/>
              <a:gdLst/>
              <a:ahLst/>
              <a:cxnLst/>
              <a:rect l="l" t="t" r="r" b="b"/>
              <a:pathLst>
                <a:path w="2472603" h="2049381">
                  <a:moveTo>
                    <a:pt x="0" y="0"/>
                  </a:moveTo>
                  <a:lnTo>
                    <a:pt x="2472603" y="0"/>
                  </a:lnTo>
                  <a:lnTo>
                    <a:pt x="2472603" y="2049381"/>
                  </a:lnTo>
                  <a:lnTo>
                    <a:pt x="0" y="2049381"/>
                  </a:lnTo>
                  <a:close/>
                </a:path>
              </a:pathLst>
            </a:custGeom>
            <a:solidFill>
              <a:srgbClr val="FFFBD6"/>
            </a:solidFill>
            <a:ln w="38100" cap="sq">
              <a:solidFill>
                <a:srgbClr val="000000"/>
              </a:solidFill>
              <a:prstDash val="solid"/>
              <a:miter/>
            </a:ln>
          </p:spPr>
        </p:sp>
        <p:sp>
          <p:nvSpPr>
            <p:cNvPr id="6" name="TextBox 6"/>
            <p:cNvSpPr txBox="1"/>
            <p:nvPr/>
          </p:nvSpPr>
          <p:spPr>
            <a:xfrm>
              <a:off x="0" y="-38100"/>
              <a:ext cx="2472603" cy="208748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24363" y="9588393"/>
            <a:ext cx="18841391" cy="2009278"/>
            <a:chOff x="0" y="0"/>
            <a:chExt cx="6446321" cy="687447"/>
          </a:xfrm>
        </p:grpSpPr>
        <p:sp>
          <p:nvSpPr>
            <p:cNvPr id="8" name="Freeform 8"/>
            <p:cNvSpPr/>
            <p:nvPr/>
          </p:nvSpPr>
          <p:spPr>
            <a:xfrm>
              <a:off x="0" y="0"/>
              <a:ext cx="6446321" cy="687447"/>
            </a:xfrm>
            <a:custGeom>
              <a:avLst/>
              <a:gdLst/>
              <a:ahLst/>
              <a:cxnLst/>
              <a:rect l="l" t="t" r="r" b="b"/>
              <a:pathLst>
                <a:path w="6446321" h="687447">
                  <a:moveTo>
                    <a:pt x="0" y="0"/>
                  </a:moveTo>
                  <a:lnTo>
                    <a:pt x="6446321" y="0"/>
                  </a:lnTo>
                  <a:lnTo>
                    <a:pt x="6446321" y="687447"/>
                  </a:lnTo>
                  <a:lnTo>
                    <a:pt x="0" y="687447"/>
                  </a:lnTo>
                  <a:close/>
                </a:path>
              </a:pathLst>
            </a:custGeom>
            <a:solidFill>
              <a:srgbClr val="8FC9D4"/>
            </a:solidFill>
            <a:ln w="38100" cap="sq">
              <a:solidFill>
                <a:srgbClr val="000000"/>
              </a:solidFill>
              <a:prstDash val="solid"/>
              <a:miter/>
            </a:ln>
          </p:spPr>
        </p:sp>
        <p:sp>
          <p:nvSpPr>
            <p:cNvPr id="9" name="TextBox 9"/>
            <p:cNvSpPr txBox="1"/>
            <p:nvPr/>
          </p:nvSpPr>
          <p:spPr>
            <a:xfrm>
              <a:off x="0" y="-38100"/>
              <a:ext cx="6446321" cy="725547"/>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rot="-5237842">
            <a:off x="17157297" y="210243"/>
            <a:ext cx="738707" cy="858546"/>
          </a:xfrm>
          <a:custGeom>
            <a:avLst/>
            <a:gdLst/>
            <a:ahLst/>
            <a:cxnLst/>
            <a:rect l="l" t="t" r="r" b="b"/>
            <a:pathLst>
              <a:path w="738707" h="858546">
                <a:moveTo>
                  <a:pt x="0" y="0"/>
                </a:moveTo>
                <a:lnTo>
                  <a:pt x="738707" y="0"/>
                </a:lnTo>
                <a:lnTo>
                  <a:pt x="738707" y="858546"/>
                </a:lnTo>
                <a:lnTo>
                  <a:pt x="0" y="8585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1883475" y="5143500"/>
            <a:ext cx="3779090" cy="4095834"/>
          </a:xfrm>
          <a:custGeom>
            <a:avLst/>
            <a:gdLst/>
            <a:ahLst/>
            <a:cxnLst/>
            <a:rect l="l" t="t" r="r" b="b"/>
            <a:pathLst>
              <a:path w="3779090" h="4095834">
                <a:moveTo>
                  <a:pt x="0" y="0"/>
                </a:moveTo>
                <a:lnTo>
                  <a:pt x="3779090" y="0"/>
                </a:lnTo>
                <a:lnTo>
                  <a:pt x="3779090" y="4095834"/>
                </a:lnTo>
                <a:lnTo>
                  <a:pt x="0" y="4095834"/>
                </a:lnTo>
                <a:lnTo>
                  <a:pt x="0" y="0"/>
                </a:lnTo>
                <a:close/>
              </a:path>
            </a:pathLst>
          </a:custGeom>
          <a:blipFill>
            <a:blip r:embed="rId6"/>
            <a:stretch>
              <a:fillRect/>
            </a:stretch>
          </a:blipFill>
        </p:spPr>
      </p:sp>
      <p:sp>
        <p:nvSpPr>
          <p:cNvPr id="12" name="Freeform 12"/>
          <p:cNvSpPr/>
          <p:nvPr/>
        </p:nvSpPr>
        <p:spPr>
          <a:xfrm>
            <a:off x="9635579" y="2135058"/>
            <a:ext cx="8274883" cy="2656017"/>
          </a:xfrm>
          <a:custGeom>
            <a:avLst/>
            <a:gdLst/>
            <a:ahLst/>
            <a:cxnLst/>
            <a:rect l="l" t="t" r="r" b="b"/>
            <a:pathLst>
              <a:path w="8274883" h="2656017">
                <a:moveTo>
                  <a:pt x="0" y="0"/>
                </a:moveTo>
                <a:lnTo>
                  <a:pt x="8274883" y="0"/>
                </a:lnTo>
                <a:lnTo>
                  <a:pt x="8274883" y="2656017"/>
                </a:lnTo>
                <a:lnTo>
                  <a:pt x="0" y="2656017"/>
                </a:lnTo>
                <a:lnTo>
                  <a:pt x="0" y="0"/>
                </a:lnTo>
                <a:close/>
              </a:path>
            </a:pathLst>
          </a:custGeom>
          <a:blipFill>
            <a:blip r:embed="rId7"/>
            <a:stretch>
              <a:fillRect/>
            </a:stretch>
          </a:blipFill>
        </p:spPr>
      </p:sp>
      <p:sp>
        <p:nvSpPr>
          <p:cNvPr id="13" name="TextBox 13"/>
          <p:cNvSpPr txBox="1"/>
          <p:nvPr/>
        </p:nvSpPr>
        <p:spPr>
          <a:xfrm>
            <a:off x="2159056" y="-865238"/>
            <a:ext cx="13885907" cy="3133842"/>
          </a:xfrm>
          <a:prstGeom prst="rect">
            <a:avLst/>
          </a:prstGeom>
        </p:spPr>
        <p:txBody>
          <a:bodyPr lIns="0" tIns="0" rIns="0" bIns="0" rtlCol="0" anchor="t">
            <a:spAutoFit/>
          </a:bodyPr>
          <a:lstStyle/>
          <a:p>
            <a:pPr algn="l">
              <a:lnSpc>
                <a:spcPts val="8393"/>
              </a:lnSpc>
            </a:pPr>
            <a:endParaRPr/>
          </a:p>
          <a:p>
            <a:pPr algn="l">
              <a:lnSpc>
                <a:spcPts val="8393"/>
              </a:lnSpc>
            </a:pPr>
            <a:r>
              <a:rPr lang="en-US" sz="5995">
                <a:solidFill>
                  <a:srgbClr val="000000"/>
                </a:solidFill>
                <a:latin typeface="Merriweather"/>
                <a:ea typeface="Merriweather"/>
                <a:cs typeface="Merriweather"/>
                <a:sym typeface="Merriweather"/>
              </a:rPr>
              <a:t>Implementasi Konsep Encapsulation</a:t>
            </a:r>
          </a:p>
          <a:p>
            <a:pPr algn="l">
              <a:lnSpc>
                <a:spcPts val="8393"/>
              </a:lnSpc>
            </a:pPr>
            <a:endParaRPr lang="en-US" sz="5995">
              <a:solidFill>
                <a:srgbClr val="000000"/>
              </a:solidFill>
              <a:latin typeface="Merriweather"/>
              <a:ea typeface="Merriweather"/>
              <a:cs typeface="Merriweather"/>
              <a:sym typeface="Merriweather"/>
            </a:endParaRPr>
          </a:p>
        </p:txBody>
      </p:sp>
      <p:sp>
        <p:nvSpPr>
          <p:cNvPr id="14" name="TextBox 14"/>
          <p:cNvSpPr txBox="1"/>
          <p:nvPr/>
        </p:nvSpPr>
        <p:spPr>
          <a:xfrm>
            <a:off x="527222" y="1906579"/>
            <a:ext cx="8376210" cy="7910195"/>
          </a:xfrm>
          <a:prstGeom prst="rect">
            <a:avLst/>
          </a:prstGeom>
        </p:spPr>
        <p:txBody>
          <a:bodyPr lIns="0" tIns="0" rIns="0" bIns="0" rtlCol="0" anchor="t">
            <a:spAutoFit/>
          </a:bodyPr>
          <a:lstStyle/>
          <a:p>
            <a:pPr algn="just">
              <a:lnSpc>
                <a:spcPts val="4480"/>
              </a:lnSpc>
            </a:pPr>
            <a:r>
              <a:rPr lang="en-US" sz="3200">
                <a:solidFill>
                  <a:srgbClr val="000000"/>
                </a:solidFill>
                <a:latin typeface="Arial MT Pro"/>
                <a:ea typeface="Arial MT Pro"/>
                <a:cs typeface="Arial MT Pro"/>
                <a:sym typeface="Arial MT Pro"/>
              </a:rPr>
              <a:t>Konsep Encapsulation diterapkan pada class TiketBioskop untuk menjaga keamanan data setiap objek tiket. Data penting, seperti ID tiket, judul film, nomor kursi, dan harga dasar, disimpan sebagai atribut private sehingga tidak dapat diakses secara langsung dari luar class. Pengelolaan data dilakukan melalui property (getter), sedangkan perubahan nilai harga dasar menggunakan setter yang dilengkapi proses validasi. Dengan demikian, sistem mampu menjaga konsistensi data serta mencegah terjadinya kesalahan input selama proses pemesanan tiket.</a:t>
            </a:r>
          </a:p>
          <a:p>
            <a:pPr algn="just">
              <a:lnSpc>
                <a:spcPts val="4480"/>
              </a:lnSpc>
            </a:pPr>
            <a:endParaRPr lang="en-US" sz="3200">
              <a:solidFill>
                <a:srgbClr val="000000"/>
              </a:solidFill>
              <a:latin typeface="Arial MT Pro"/>
              <a:ea typeface="Arial MT Pro"/>
              <a:cs typeface="Arial MT Pro"/>
              <a:sym typeface="Arial MT P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7D7DC"/>
        </a:solidFill>
        <a:effectLst/>
      </p:bgPr>
    </p:bg>
    <p:spTree>
      <p:nvGrpSpPr>
        <p:cNvPr id="1" name=""/>
        <p:cNvGrpSpPr/>
        <p:nvPr/>
      </p:nvGrpSpPr>
      <p:grpSpPr>
        <a:xfrm>
          <a:off x="0" y="0"/>
          <a:ext cx="0" cy="0"/>
          <a:chOff x="0" y="0"/>
          <a:chExt cx="0" cy="0"/>
        </a:xfrm>
      </p:grpSpPr>
      <p:sp>
        <p:nvSpPr>
          <p:cNvPr id="2" name="Freeform 2"/>
          <p:cNvSpPr/>
          <p:nvPr/>
        </p:nvSpPr>
        <p:spPr>
          <a:xfrm>
            <a:off x="-110100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9102009" y="0"/>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27984" y="1457210"/>
            <a:ext cx="9090743" cy="7801090"/>
            <a:chOff x="0" y="0"/>
            <a:chExt cx="2394270" cy="2054608"/>
          </a:xfrm>
        </p:grpSpPr>
        <p:sp>
          <p:nvSpPr>
            <p:cNvPr id="5" name="Freeform 5"/>
            <p:cNvSpPr/>
            <p:nvPr/>
          </p:nvSpPr>
          <p:spPr>
            <a:xfrm>
              <a:off x="0" y="0"/>
              <a:ext cx="2394270" cy="2054608"/>
            </a:xfrm>
            <a:custGeom>
              <a:avLst/>
              <a:gdLst/>
              <a:ahLst/>
              <a:cxnLst/>
              <a:rect l="l" t="t" r="r" b="b"/>
              <a:pathLst>
                <a:path w="2394270" h="2054608">
                  <a:moveTo>
                    <a:pt x="0" y="0"/>
                  </a:moveTo>
                  <a:lnTo>
                    <a:pt x="2394270" y="0"/>
                  </a:lnTo>
                  <a:lnTo>
                    <a:pt x="2394270" y="2054608"/>
                  </a:lnTo>
                  <a:lnTo>
                    <a:pt x="0" y="2054608"/>
                  </a:lnTo>
                  <a:close/>
                </a:path>
              </a:pathLst>
            </a:custGeom>
            <a:solidFill>
              <a:srgbClr val="FFFBD6"/>
            </a:solidFill>
            <a:ln w="38100" cap="sq">
              <a:solidFill>
                <a:srgbClr val="000000"/>
              </a:solidFill>
              <a:prstDash val="solid"/>
              <a:miter/>
            </a:ln>
          </p:spPr>
        </p:sp>
        <p:sp>
          <p:nvSpPr>
            <p:cNvPr id="6" name="TextBox 6"/>
            <p:cNvSpPr txBox="1"/>
            <p:nvPr/>
          </p:nvSpPr>
          <p:spPr>
            <a:xfrm>
              <a:off x="0" y="-38100"/>
              <a:ext cx="2394270" cy="209270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682232" y="9469086"/>
            <a:ext cx="19568482" cy="2009278"/>
            <a:chOff x="0" y="0"/>
            <a:chExt cx="6695085" cy="687447"/>
          </a:xfrm>
        </p:grpSpPr>
        <p:sp>
          <p:nvSpPr>
            <p:cNvPr id="8" name="Freeform 8"/>
            <p:cNvSpPr/>
            <p:nvPr/>
          </p:nvSpPr>
          <p:spPr>
            <a:xfrm>
              <a:off x="0" y="0"/>
              <a:ext cx="6695085" cy="687447"/>
            </a:xfrm>
            <a:custGeom>
              <a:avLst/>
              <a:gdLst/>
              <a:ahLst/>
              <a:cxnLst/>
              <a:rect l="l" t="t" r="r" b="b"/>
              <a:pathLst>
                <a:path w="6695085" h="687447">
                  <a:moveTo>
                    <a:pt x="0" y="0"/>
                  </a:moveTo>
                  <a:lnTo>
                    <a:pt x="6695085" y="0"/>
                  </a:lnTo>
                  <a:lnTo>
                    <a:pt x="6695085" y="687447"/>
                  </a:lnTo>
                  <a:lnTo>
                    <a:pt x="0" y="687447"/>
                  </a:lnTo>
                  <a:close/>
                </a:path>
              </a:pathLst>
            </a:custGeom>
            <a:solidFill>
              <a:srgbClr val="8FC9D4"/>
            </a:solidFill>
            <a:ln w="38100" cap="sq">
              <a:solidFill>
                <a:srgbClr val="000000"/>
              </a:solidFill>
              <a:prstDash val="solid"/>
              <a:miter/>
            </a:ln>
          </p:spPr>
        </p:sp>
        <p:sp>
          <p:nvSpPr>
            <p:cNvPr id="9" name="TextBox 9"/>
            <p:cNvSpPr txBox="1"/>
            <p:nvPr/>
          </p:nvSpPr>
          <p:spPr>
            <a:xfrm>
              <a:off x="0" y="-38100"/>
              <a:ext cx="6695085" cy="725547"/>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9453562" y="1948713"/>
            <a:ext cx="8707680" cy="1596878"/>
          </a:xfrm>
          <a:custGeom>
            <a:avLst/>
            <a:gdLst/>
            <a:ahLst/>
            <a:cxnLst/>
            <a:rect l="l" t="t" r="r" b="b"/>
            <a:pathLst>
              <a:path w="8707680" h="1596878">
                <a:moveTo>
                  <a:pt x="0" y="0"/>
                </a:moveTo>
                <a:lnTo>
                  <a:pt x="8707680" y="0"/>
                </a:lnTo>
                <a:lnTo>
                  <a:pt x="8707680" y="1596878"/>
                </a:lnTo>
                <a:lnTo>
                  <a:pt x="0" y="1596878"/>
                </a:lnTo>
                <a:lnTo>
                  <a:pt x="0" y="0"/>
                </a:lnTo>
                <a:close/>
              </a:path>
            </a:pathLst>
          </a:custGeom>
          <a:blipFill>
            <a:blip r:embed="rId4"/>
            <a:stretch>
              <a:fillRect/>
            </a:stretch>
          </a:blipFill>
        </p:spPr>
      </p:sp>
      <p:sp>
        <p:nvSpPr>
          <p:cNvPr id="11" name="Freeform 11"/>
          <p:cNvSpPr/>
          <p:nvPr/>
        </p:nvSpPr>
        <p:spPr>
          <a:xfrm>
            <a:off x="9509017" y="3714515"/>
            <a:ext cx="8596771" cy="1970093"/>
          </a:xfrm>
          <a:custGeom>
            <a:avLst/>
            <a:gdLst/>
            <a:ahLst/>
            <a:cxnLst/>
            <a:rect l="l" t="t" r="r" b="b"/>
            <a:pathLst>
              <a:path w="8596771" h="1970093">
                <a:moveTo>
                  <a:pt x="0" y="0"/>
                </a:moveTo>
                <a:lnTo>
                  <a:pt x="8596770" y="0"/>
                </a:lnTo>
                <a:lnTo>
                  <a:pt x="8596770" y="1970093"/>
                </a:lnTo>
                <a:lnTo>
                  <a:pt x="0" y="1970093"/>
                </a:lnTo>
                <a:lnTo>
                  <a:pt x="0" y="0"/>
                </a:lnTo>
                <a:close/>
              </a:path>
            </a:pathLst>
          </a:custGeom>
          <a:blipFill>
            <a:blip r:embed="rId5"/>
            <a:stretch>
              <a:fillRect/>
            </a:stretch>
          </a:blipFill>
        </p:spPr>
      </p:sp>
      <p:sp>
        <p:nvSpPr>
          <p:cNvPr id="12" name="Freeform 12"/>
          <p:cNvSpPr/>
          <p:nvPr/>
        </p:nvSpPr>
        <p:spPr>
          <a:xfrm>
            <a:off x="9533095" y="5944083"/>
            <a:ext cx="8548614" cy="1126512"/>
          </a:xfrm>
          <a:custGeom>
            <a:avLst/>
            <a:gdLst/>
            <a:ahLst/>
            <a:cxnLst/>
            <a:rect l="l" t="t" r="r" b="b"/>
            <a:pathLst>
              <a:path w="8548614" h="1126512">
                <a:moveTo>
                  <a:pt x="0" y="0"/>
                </a:moveTo>
                <a:lnTo>
                  <a:pt x="8548614" y="0"/>
                </a:lnTo>
                <a:lnTo>
                  <a:pt x="8548614" y="1126511"/>
                </a:lnTo>
                <a:lnTo>
                  <a:pt x="0" y="1126511"/>
                </a:lnTo>
                <a:lnTo>
                  <a:pt x="0" y="0"/>
                </a:lnTo>
                <a:close/>
              </a:path>
            </a:pathLst>
          </a:custGeom>
          <a:blipFill>
            <a:blip r:embed="rId6"/>
            <a:stretch>
              <a:fillRect/>
            </a:stretch>
          </a:blipFill>
        </p:spPr>
      </p:sp>
      <p:sp>
        <p:nvSpPr>
          <p:cNvPr id="13" name="TextBox 13"/>
          <p:cNvSpPr txBox="1"/>
          <p:nvPr/>
        </p:nvSpPr>
        <p:spPr>
          <a:xfrm>
            <a:off x="1986464" y="-933450"/>
            <a:ext cx="14399055" cy="3197977"/>
          </a:xfrm>
          <a:prstGeom prst="rect">
            <a:avLst/>
          </a:prstGeom>
        </p:spPr>
        <p:txBody>
          <a:bodyPr lIns="0" tIns="0" rIns="0" bIns="0" rtlCol="0" anchor="t">
            <a:spAutoFit/>
          </a:bodyPr>
          <a:lstStyle/>
          <a:p>
            <a:pPr algn="l">
              <a:lnSpc>
                <a:spcPts val="8533"/>
              </a:lnSpc>
            </a:pPr>
            <a:endParaRPr/>
          </a:p>
          <a:p>
            <a:pPr algn="l">
              <a:lnSpc>
                <a:spcPts val="8533"/>
              </a:lnSpc>
            </a:pPr>
            <a:r>
              <a:rPr lang="en-US" sz="6095">
                <a:solidFill>
                  <a:srgbClr val="000000"/>
                </a:solidFill>
                <a:latin typeface="Merriweather"/>
                <a:ea typeface="Merriweather"/>
                <a:cs typeface="Merriweather"/>
                <a:sym typeface="Merriweather"/>
              </a:rPr>
              <a:t>Implementasi Konsep Polymorphism</a:t>
            </a:r>
          </a:p>
          <a:p>
            <a:pPr algn="l">
              <a:lnSpc>
                <a:spcPts val="8533"/>
              </a:lnSpc>
            </a:pPr>
            <a:endParaRPr lang="en-US" sz="6095">
              <a:solidFill>
                <a:srgbClr val="000000"/>
              </a:solidFill>
              <a:latin typeface="Merriweather"/>
              <a:ea typeface="Merriweather"/>
              <a:cs typeface="Merriweather"/>
              <a:sym typeface="Merriweather"/>
            </a:endParaRPr>
          </a:p>
        </p:txBody>
      </p:sp>
      <p:sp>
        <p:nvSpPr>
          <p:cNvPr id="14" name="TextBox 14"/>
          <p:cNvSpPr txBox="1"/>
          <p:nvPr/>
        </p:nvSpPr>
        <p:spPr>
          <a:xfrm>
            <a:off x="559222" y="1598383"/>
            <a:ext cx="8428267" cy="8048625"/>
          </a:xfrm>
          <a:prstGeom prst="rect">
            <a:avLst/>
          </a:prstGeom>
        </p:spPr>
        <p:txBody>
          <a:bodyPr lIns="0" tIns="0" rIns="0" bIns="0" rtlCol="0" anchor="t">
            <a:spAutoFit/>
          </a:bodyPr>
          <a:lstStyle/>
          <a:p>
            <a:pPr algn="just">
              <a:lnSpc>
                <a:spcPts val="4200"/>
              </a:lnSpc>
            </a:pPr>
            <a:r>
              <a:rPr lang="en-US" sz="3000">
                <a:solidFill>
                  <a:srgbClr val="000000"/>
                </a:solidFill>
                <a:latin typeface="Arial MT Pro"/>
                <a:ea typeface="Arial MT Pro"/>
                <a:cs typeface="Arial MT Pro"/>
                <a:sym typeface="Arial MT Pro"/>
              </a:rPr>
              <a:t>Konsep Polymorphism diterapkan melalui class TiketReguler, TiketVIP, dan TiketIMAX yang merupakan turunan dari class TiketBioskop. Ketiga class tersebut mengimplementasikan method hitung_harga_akhir() dan cetak_tiket() dengan perilaku yang berbeda sesuai karakteristik masing-masing jenis tiket. Dengan penerapan Polymorphism, sistem dapat memanggil method yang sama pada setiap objek tanpa perlu mengetahui jenis class secara spesifik. Pendekatan ini membuat program lebih fleksibel, mudah dikembangkan, serta mampu menangani berbagai jenis tiket menggunakan mekanisme yang sama.</a:t>
            </a:r>
          </a:p>
          <a:p>
            <a:pPr algn="just">
              <a:lnSpc>
                <a:spcPts val="4200"/>
              </a:lnSpc>
            </a:pPr>
            <a:endParaRPr lang="en-US" sz="3000">
              <a:solidFill>
                <a:srgbClr val="000000"/>
              </a:solidFill>
              <a:latin typeface="Arial MT Pro"/>
              <a:ea typeface="Arial MT Pro"/>
              <a:cs typeface="Arial MT Pro"/>
              <a:sym typeface="Arial MT Pr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7D7DC"/>
        </a:solidFill>
        <a:effectLst/>
      </p:bgPr>
    </p:bg>
    <p:spTree>
      <p:nvGrpSpPr>
        <p:cNvPr id="1" name=""/>
        <p:cNvGrpSpPr/>
        <p:nvPr/>
      </p:nvGrpSpPr>
      <p:grpSpPr>
        <a:xfrm>
          <a:off x="0" y="0"/>
          <a:ext cx="0" cy="0"/>
          <a:chOff x="0" y="0"/>
          <a:chExt cx="0" cy="0"/>
        </a:xfrm>
      </p:grpSpPr>
      <p:sp>
        <p:nvSpPr>
          <p:cNvPr id="2" name="Freeform 2"/>
          <p:cNvSpPr/>
          <p:nvPr/>
        </p:nvSpPr>
        <p:spPr>
          <a:xfrm>
            <a:off x="-110100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9102009" y="0"/>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9003" y="1938622"/>
            <a:ext cx="9899872" cy="8123547"/>
            <a:chOff x="0" y="0"/>
            <a:chExt cx="2607374" cy="2139535"/>
          </a:xfrm>
        </p:grpSpPr>
        <p:sp>
          <p:nvSpPr>
            <p:cNvPr id="5" name="Freeform 5"/>
            <p:cNvSpPr/>
            <p:nvPr/>
          </p:nvSpPr>
          <p:spPr>
            <a:xfrm>
              <a:off x="0" y="0"/>
              <a:ext cx="2607374" cy="2139535"/>
            </a:xfrm>
            <a:custGeom>
              <a:avLst/>
              <a:gdLst/>
              <a:ahLst/>
              <a:cxnLst/>
              <a:rect l="l" t="t" r="r" b="b"/>
              <a:pathLst>
                <a:path w="2607374" h="2139535">
                  <a:moveTo>
                    <a:pt x="0" y="0"/>
                  </a:moveTo>
                  <a:lnTo>
                    <a:pt x="2607374" y="0"/>
                  </a:lnTo>
                  <a:lnTo>
                    <a:pt x="2607374" y="2139535"/>
                  </a:lnTo>
                  <a:lnTo>
                    <a:pt x="0" y="2139535"/>
                  </a:lnTo>
                  <a:close/>
                </a:path>
              </a:pathLst>
            </a:custGeom>
            <a:solidFill>
              <a:srgbClr val="FFFBD6"/>
            </a:solidFill>
            <a:ln w="38100" cap="sq">
              <a:solidFill>
                <a:srgbClr val="000000"/>
              </a:solidFill>
              <a:prstDash val="solid"/>
              <a:miter/>
            </a:ln>
          </p:spPr>
        </p:sp>
        <p:sp>
          <p:nvSpPr>
            <p:cNvPr id="6" name="TextBox 6"/>
            <p:cNvSpPr txBox="1"/>
            <p:nvPr/>
          </p:nvSpPr>
          <p:spPr>
            <a:xfrm>
              <a:off x="0" y="-38100"/>
              <a:ext cx="2607374" cy="217763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463691" y="9475404"/>
            <a:ext cx="19568482" cy="2009278"/>
            <a:chOff x="0" y="0"/>
            <a:chExt cx="6695085" cy="687447"/>
          </a:xfrm>
        </p:grpSpPr>
        <p:sp>
          <p:nvSpPr>
            <p:cNvPr id="8" name="Freeform 8"/>
            <p:cNvSpPr/>
            <p:nvPr/>
          </p:nvSpPr>
          <p:spPr>
            <a:xfrm>
              <a:off x="0" y="0"/>
              <a:ext cx="6695085" cy="687447"/>
            </a:xfrm>
            <a:custGeom>
              <a:avLst/>
              <a:gdLst/>
              <a:ahLst/>
              <a:cxnLst/>
              <a:rect l="l" t="t" r="r" b="b"/>
              <a:pathLst>
                <a:path w="6695085" h="687447">
                  <a:moveTo>
                    <a:pt x="0" y="0"/>
                  </a:moveTo>
                  <a:lnTo>
                    <a:pt x="6695085" y="0"/>
                  </a:lnTo>
                  <a:lnTo>
                    <a:pt x="6695085" y="687447"/>
                  </a:lnTo>
                  <a:lnTo>
                    <a:pt x="0" y="687447"/>
                  </a:lnTo>
                  <a:close/>
                </a:path>
              </a:pathLst>
            </a:custGeom>
            <a:solidFill>
              <a:srgbClr val="8FC9D4"/>
            </a:solidFill>
            <a:ln w="38100" cap="sq">
              <a:solidFill>
                <a:srgbClr val="000000"/>
              </a:solidFill>
              <a:prstDash val="solid"/>
              <a:miter/>
            </a:ln>
          </p:spPr>
        </p:sp>
        <p:sp>
          <p:nvSpPr>
            <p:cNvPr id="9" name="TextBox 9"/>
            <p:cNvSpPr txBox="1"/>
            <p:nvPr/>
          </p:nvSpPr>
          <p:spPr>
            <a:xfrm>
              <a:off x="0" y="-38100"/>
              <a:ext cx="6695085" cy="725547"/>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10296659" y="2498149"/>
            <a:ext cx="7731999" cy="1286336"/>
          </a:xfrm>
          <a:custGeom>
            <a:avLst/>
            <a:gdLst/>
            <a:ahLst/>
            <a:cxnLst/>
            <a:rect l="l" t="t" r="r" b="b"/>
            <a:pathLst>
              <a:path w="7731999" h="1286336">
                <a:moveTo>
                  <a:pt x="0" y="0"/>
                </a:moveTo>
                <a:lnTo>
                  <a:pt x="7731998" y="0"/>
                </a:lnTo>
                <a:lnTo>
                  <a:pt x="7731998" y="1286336"/>
                </a:lnTo>
                <a:lnTo>
                  <a:pt x="0" y="1286336"/>
                </a:lnTo>
                <a:lnTo>
                  <a:pt x="0" y="0"/>
                </a:lnTo>
                <a:close/>
              </a:path>
            </a:pathLst>
          </a:custGeom>
          <a:blipFill>
            <a:blip r:embed="rId4"/>
            <a:stretch>
              <a:fillRect/>
            </a:stretch>
          </a:blipFill>
        </p:spPr>
      </p:sp>
      <p:sp>
        <p:nvSpPr>
          <p:cNvPr id="11" name="Freeform 11"/>
          <p:cNvSpPr/>
          <p:nvPr/>
        </p:nvSpPr>
        <p:spPr>
          <a:xfrm>
            <a:off x="10154202" y="4289621"/>
            <a:ext cx="8016913" cy="3394311"/>
          </a:xfrm>
          <a:custGeom>
            <a:avLst/>
            <a:gdLst/>
            <a:ahLst/>
            <a:cxnLst/>
            <a:rect l="l" t="t" r="r" b="b"/>
            <a:pathLst>
              <a:path w="8016913" h="3394311">
                <a:moveTo>
                  <a:pt x="0" y="0"/>
                </a:moveTo>
                <a:lnTo>
                  <a:pt x="8016912" y="0"/>
                </a:lnTo>
                <a:lnTo>
                  <a:pt x="8016912" y="3394311"/>
                </a:lnTo>
                <a:lnTo>
                  <a:pt x="0" y="3394311"/>
                </a:lnTo>
                <a:lnTo>
                  <a:pt x="0" y="0"/>
                </a:lnTo>
                <a:close/>
              </a:path>
            </a:pathLst>
          </a:custGeom>
          <a:blipFill>
            <a:blip r:embed="rId5"/>
            <a:stretch>
              <a:fillRect/>
            </a:stretch>
          </a:blipFill>
        </p:spPr>
      </p:sp>
      <p:sp>
        <p:nvSpPr>
          <p:cNvPr id="12" name="TextBox 12"/>
          <p:cNvSpPr txBox="1"/>
          <p:nvPr/>
        </p:nvSpPr>
        <p:spPr>
          <a:xfrm>
            <a:off x="343325" y="-555049"/>
            <a:ext cx="17685333" cy="3053197"/>
          </a:xfrm>
          <a:prstGeom prst="rect">
            <a:avLst/>
          </a:prstGeom>
        </p:spPr>
        <p:txBody>
          <a:bodyPr lIns="0" tIns="0" rIns="0" bIns="0" rtlCol="0" anchor="t">
            <a:spAutoFit/>
          </a:bodyPr>
          <a:lstStyle/>
          <a:p>
            <a:pPr algn="l">
              <a:lnSpc>
                <a:spcPts val="8113"/>
              </a:lnSpc>
            </a:pPr>
            <a:endParaRPr/>
          </a:p>
          <a:p>
            <a:pPr algn="l">
              <a:lnSpc>
                <a:spcPts val="8113"/>
              </a:lnSpc>
            </a:pPr>
            <a:r>
              <a:rPr lang="en-US" sz="5795">
                <a:solidFill>
                  <a:srgbClr val="000000"/>
                </a:solidFill>
                <a:latin typeface="Merriweather"/>
                <a:ea typeface="Merriweather"/>
                <a:cs typeface="Merriweather"/>
                <a:sym typeface="Merriweather"/>
              </a:rPr>
              <a:t>Implementasi Sistem Pemesanan Tiket Bioskop</a:t>
            </a:r>
          </a:p>
          <a:p>
            <a:pPr algn="l">
              <a:lnSpc>
                <a:spcPts val="8113"/>
              </a:lnSpc>
            </a:pPr>
            <a:endParaRPr lang="en-US" sz="5795">
              <a:solidFill>
                <a:srgbClr val="000000"/>
              </a:solidFill>
              <a:latin typeface="Merriweather"/>
              <a:ea typeface="Merriweather"/>
              <a:cs typeface="Merriweather"/>
              <a:sym typeface="Merriweather"/>
            </a:endParaRPr>
          </a:p>
        </p:txBody>
      </p:sp>
      <p:sp>
        <p:nvSpPr>
          <p:cNvPr id="13" name="TextBox 13"/>
          <p:cNvSpPr txBox="1"/>
          <p:nvPr/>
        </p:nvSpPr>
        <p:spPr>
          <a:xfrm>
            <a:off x="311083" y="2127184"/>
            <a:ext cx="9495713" cy="7348220"/>
          </a:xfrm>
          <a:prstGeom prst="rect">
            <a:avLst/>
          </a:prstGeom>
        </p:spPr>
        <p:txBody>
          <a:bodyPr lIns="0" tIns="0" rIns="0" bIns="0" rtlCol="0" anchor="t">
            <a:spAutoFit/>
          </a:bodyPr>
          <a:lstStyle/>
          <a:p>
            <a:pPr algn="just">
              <a:lnSpc>
                <a:spcPts val="4480"/>
              </a:lnSpc>
            </a:pPr>
            <a:r>
              <a:rPr lang="en-US" sz="3200">
                <a:solidFill>
                  <a:srgbClr val="000000"/>
                </a:solidFill>
                <a:latin typeface="Arial MT Pro"/>
                <a:ea typeface="Arial MT Pro"/>
                <a:cs typeface="Arial MT Pro"/>
                <a:sym typeface="Arial MT Pro"/>
              </a:rPr>
              <a:t>Implementasi sistem dilakukan melalui class SistemPemesanan yang berfungsi sebagai pengelola seluruh proses pemesanan tiket bioskop. Class ini menyimpan kumpulan objek tiket ke dalam atribut daftar_pesanan, kemudian menyediakan method tambah_pesanan() untuk menambahkan data tiket dan tampilkan_semua_tiket() untuk menampilkan informasi setiap tiket beserta total pembayaran. Melalui pendekatan ini, sistem mampu mengelola berbagai jenis objek tiket secara terstruktur serta memanfaatkan konsep Polymorphism ketika memanggil method yang dimiliki setiap objek.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7D7DC"/>
        </a:solidFill>
        <a:effectLst/>
      </p:bgPr>
    </p:bg>
    <p:spTree>
      <p:nvGrpSpPr>
        <p:cNvPr id="1" name=""/>
        <p:cNvGrpSpPr/>
        <p:nvPr/>
      </p:nvGrpSpPr>
      <p:grpSpPr>
        <a:xfrm>
          <a:off x="0" y="0"/>
          <a:ext cx="0" cy="0"/>
          <a:chOff x="0" y="0"/>
          <a:chExt cx="0" cy="0"/>
        </a:xfrm>
      </p:grpSpPr>
      <p:sp>
        <p:nvSpPr>
          <p:cNvPr id="2" name="Freeform 2"/>
          <p:cNvSpPr/>
          <p:nvPr/>
        </p:nvSpPr>
        <p:spPr>
          <a:xfrm>
            <a:off x="-110100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9102009" y="0"/>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18705" y="2080127"/>
            <a:ext cx="9252927" cy="6941193"/>
            <a:chOff x="0" y="0"/>
            <a:chExt cx="2436985" cy="1828133"/>
          </a:xfrm>
        </p:grpSpPr>
        <p:sp>
          <p:nvSpPr>
            <p:cNvPr id="5" name="Freeform 5"/>
            <p:cNvSpPr/>
            <p:nvPr/>
          </p:nvSpPr>
          <p:spPr>
            <a:xfrm>
              <a:off x="0" y="0"/>
              <a:ext cx="2436985" cy="1828133"/>
            </a:xfrm>
            <a:custGeom>
              <a:avLst/>
              <a:gdLst/>
              <a:ahLst/>
              <a:cxnLst/>
              <a:rect l="l" t="t" r="r" b="b"/>
              <a:pathLst>
                <a:path w="2436985" h="1828133">
                  <a:moveTo>
                    <a:pt x="0" y="0"/>
                  </a:moveTo>
                  <a:lnTo>
                    <a:pt x="2436985" y="0"/>
                  </a:lnTo>
                  <a:lnTo>
                    <a:pt x="2436985" y="1828133"/>
                  </a:lnTo>
                  <a:lnTo>
                    <a:pt x="0" y="1828133"/>
                  </a:lnTo>
                  <a:close/>
                </a:path>
              </a:pathLst>
            </a:custGeom>
            <a:solidFill>
              <a:srgbClr val="FFFBD6"/>
            </a:solidFill>
            <a:ln w="38100" cap="sq">
              <a:solidFill>
                <a:srgbClr val="000000"/>
              </a:solidFill>
              <a:prstDash val="solid"/>
              <a:miter/>
            </a:ln>
          </p:spPr>
        </p:sp>
        <p:sp>
          <p:nvSpPr>
            <p:cNvPr id="6" name="TextBox 6"/>
            <p:cNvSpPr txBox="1"/>
            <p:nvPr/>
          </p:nvSpPr>
          <p:spPr>
            <a:xfrm>
              <a:off x="0" y="-38100"/>
              <a:ext cx="2436985" cy="1866233"/>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flipH="1">
            <a:off x="15610998" y="49172"/>
            <a:ext cx="1806969" cy="979528"/>
          </a:xfrm>
          <a:custGeom>
            <a:avLst/>
            <a:gdLst/>
            <a:ahLst/>
            <a:cxnLst/>
            <a:rect l="l" t="t" r="r" b="b"/>
            <a:pathLst>
              <a:path w="1806969" h="979528">
                <a:moveTo>
                  <a:pt x="1806969" y="0"/>
                </a:moveTo>
                <a:lnTo>
                  <a:pt x="0" y="0"/>
                </a:lnTo>
                <a:lnTo>
                  <a:pt x="0" y="979528"/>
                </a:lnTo>
                <a:lnTo>
                  <a:pt x="1806969" y="979528"/>
                </a:lnTo>
                <a:lnTo>
                  <a:pt x="1806969"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598250" y="9263261"/>
            <a:ext cx="19568482" cy="2009278"/>
            <a:chOff x="0" y="0"/>
            <a:chExt cx="6695085" cy="687447"/>
          </a:xfrm>
        </p:grpSpPr>
        <p:sp>
          <p:nvSpPr>
            <p:cNvPr id="9" name="Freeform 9"/>
            <p:cNvSpPr/>
            <p:nvPr/>
          </p:nvSpPr>
          <p:spPr>
            <a:xfrm>
              <a:off x="0" y="0"/>
              <a:ext cx="6695085" cy="687447"/>
            </a:xfrm>
            <a:custGeom>
              <a:avLst/>
              <a:gdLst/>
              <a:ahLst/>
              <a:cxnLst/>
              <a:rect l="l" t="t" r="r" b="b"/>
              <a:pathLst>
                <a:path w="6695085" h="687447">
                  <a:moveTo>
                    <a:pt x="0" y="0"/>
                  </a:moveTo>
                  <a:lnTo>
                    <a:pt x="6695085" y="0"/>
                  </a:lnTo>
                  <a:lnTo>
                    <a:pt x="6695085" y="687447"/>
                  </a:lnTo>
                  <a:lnTo>
                    <a:pt x="0" y="687447"/>
                  </a:lnTo>
                  <a:close/>
                </a:path>
              </a:pathLst>
            </a:custGeom>
            <a:solidFill>
              <a:srgbClr val="8FC9D4"/>
            </a:solidFill>
            <a:ln w="38100" cap="sq">
              <a:solidFill>
                <a:srgbClr val="000000"/>
              </a:solidFill>
              <a:prstDash val="solid"/>
              <a:miter/>
            </a:ln>
          </p:spPr>
        </p:sp>
        <p:sp>
          <p:nvSpPr>
            <p:cNvPr id="10" name="TextBox 10"/>
            <p:cNvSpPr txBox="1"/>
            <p:nvPr/>
          </p:nvSpPr>
          <p:spPr>
            <a:xfrm>
              <a:off x="0" y="-38100"/>
              <a:ext cx="6695085" cy="725547"/>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648757">
            <a:off x="522785" y="241766"/>
            <a:ext cx="1011829" cy="1311934"/>
          </a:xfrm>
          <a:custGeom>
            <a:avLst/>
            <a:gdLst/>
            <a:ahLst/>
            <a:cxnLst/>
            <a:rect l="l" t="t" r="r" b="b"/>
            <a:pathLst>
              <a:path w="1011829" h="1311934">
                <a:moveTo>
                  <a:pt x="0" y="0"/>
                </a:moveTo>
                <a:lnTo>
                  <a:pt x="1011830" y="0"/>
                </a:lnTo>
                <a:lnTo>
                  <a:pt x="1011830" y="1311935"/>
                </a:lnTo>
                <a:lnTo>
                  <a:pt x="0" y="131193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rot="1214505">
            <a:off x="2447308" y="146643"/>
            <a:ext cx="1069319" cy="1241589"/>
          </a:xfrm>
          <a:custGeom>
            <a:avLst/>
            <a:gdLst/>
            <a:ahLst/>
            <a:cxnLst/>
            <a:rect l="l" t="t" r="r" b="b"/>
            <a:pathLst>
              <a:path w="1069319" h="1241589">
                <a:moveTo>
                  <a:pt x="0" y="0"/>
                </a:moveTo>
                <a:lnTo>
                  <a:pt x="1069319" y="0"/>
                </a:lnTo>
                <a:lnTo>
                  <a:pt x="1069319" y="1241589"/>
                </a:lnTo>
                <a:lnTo>
                  <a:pt x="0" y="12415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Freeform 13"/>
          <p:cNvSpPr/>
          <p:nvPr/>
        </p:nvSpPr>
        <p:spPr>
          <a:xfrm>
            <a:off x="17564173" y="-12656"/>
            <a:ext cx="723827" cy="841252"/>
          </a:xfrm>
          <a:custGeom>
            <a:avLst/>
            <a:gdLst/>
            <a:ahLst/>
            <a:cxnLst/>
            <a:rect l="l" t="t" r="r" b="b"/>
            <a:pathLst>
              <a:path w="723827" h="841252">
                <a:moveTo>
                  <a:pt x="0" y="0"/>
                </a:moveTo>
                <a:lnTo>
                  <a:pt x="723827" y="0"/>
                </a:lnTo>
                <a:lnTo>
                  <a:pt x="723827" y="841252"/>
                </a:lnTo>
                <a:lnTo>
                  <a:pt x="0" y="8412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Freeform 14"/>
          <p:cNvSpPr/>
          <p:nvPr/>
        </p:nvSpPr>
        <p:spPr>
          <a:xfrm>
            <a:off x="9755549" y="3325976"/>
            <a:ext cx="8266448" cy="3635047"/>
          </a:xfrm>
          <a:custGeom>
            <a:avLst/>
            <a:gdLst/>
            <a:ahLst/>
            <a:cxnLst/>
            <a:rect l="l" t="t" r="r" b="b"/>
            <a:pathLst>
              <a:path w="8266448" h="3635047">
                <a:moveTo>
                  <a:pt x="0" y="0"/>
                </a:moveTo>
                <a:lnTo>
                  <a:pt x="8266448" y="0"/>
                </a:lnTo>
                <a:lnTo>
                  <a:pt x="8266448" y="3635048"/>
                </a:lnTo>
                <a:lnTo>
                  <a:pt x="0" y="3635048"/>
                </a:lnTo>
                <a:lnTo>
                  <a:pt x="0" y="0"/>
                </a:lnTo>
                <a:close/>
              </a:path>
            </a:pathLst>
          </a:custGeom>
          <a:blipFill>
            <a:blip r:embed="rId12"/>
            <a:stretch>
              <a:fillRect/>
            </a:stretch>
          </a:blipFill>
        </p:spPr>
      </p:sp>
      <p:sp>
        <p:nvSpPr>
          <p:cNvPr id="15" name="TextBox 15"/>
          <p:cNvSpPr txBox="1"/>
          <p:nvPr/>
        </p:nvSpPr>
        <p:spPr>
          <a:xfrm>
            <a:off x="4315245" y="-714769"/>
            <a:ext cx="9573529" cy="2121652"/>
          </a:xfrm>
          <a:prstGeom prst="rect">
            <a:avLst/>
          </a:prstGeom>
        </p:spPr>
        <p:txBody>
          <a:bodyPr lIns="0" tIns="0" rIns="0" bIns="0" rtlCol="0" anchor="t">
            <a:spAutoFit/>
          </a:bodyPr>
          <a:lstStyle/>
          <a:p>
            <a:pPr algn="ctr">
              <a:lnSpc>
                <a:spcPts val="8533"/>
              </a:lnSpc>
            </a:pPr>
            <a:endParaRPr/>
          </a:p>
          <a:p>
            <a:pPr algn="ctr">
              <a:lnSpc>
                <a:spcPts val="8533"/>
              </a:lnSpc>
            </a:pPr>
            <a:r>
              <a:rPr lang="en-US" sz="6095">
                <a:solidFill>
                  <a:srgbClr val="000000"/>
                </a:solidFill>
                <a:latin typeface="Merriweather"/>
                <a:ea typeface="Merriweather"/>
                <a:cs typeface="Merriweather"/>
                <a:sym typeface="Merriweather"/>
              </a:rPr>
              <a:t>Hasil Pengujian Program</a:t>
            </a:r>
          </a:p>
        </p:txBody>
      </p:sp>
      <p:sp>
        <p:nvSpPr>
          <p:cNvPr id="16" name="TextBox 16"/>
          <p:cNvSpPr txBox="1"/>
          <p:nvPr/>
        </p:nvSpPr>
        <p:spPr>
          <a:xfrm>
            <a:off x="495379" y="2119996"/>
            <a:ext cx="8699579" cy="7348220"/>
          </a:xfrm>
          <a:prstGeom prst="rect">
            <a:avLst/>
          </a:prstGeom>
        </p:spPr>
        <p:txBody>
          <a:bodyPr lIns="0" tIns="0" rIns="0" bIns="0" rtlCol="0" anchor="t">
            <a:spAutoFit/>
          </a:bodyPr>
          <a:lstStyle/>
          <a:p>
            <a:pPr algn="just">
              <a:lnSpc>
                <a:spcPts val="4480"/>
              </a:lnSpc>
            </a:pPr>
            <a:r>
              <a:rPr lang="en-US" sz="3200">
                <a:solidFill>
                  <a:srgbClr val="000000"/>
                </a:solidFill>
                <a:latin typeface="Arial MT Pro"/>
                <a:ea typeface="Arial MT Pro"/>
                <a:cs typeface="Arial MT Pro"/>
                <a:sym typeface="Arial MT Pro"/>
              </a:rPr>
              <a:t>Hasil pengujian menunjukkan bahwa sistem berhasil menjalankan proses pemesanan tiket bioskop sesuai dengan rancangan yang telah dibuat. Program mampu menambahkan data pemesanan, menghitung harga berdasarkan jenis tiket, serta menampilkan informasi setiap tiket beserta total pembayaran secara otomatis. Output yang dihasilkan membuktikan bahwa penerapan konsep Encapsulation dan Polymorphism telah berjalan dengan baik sehingga seluruh fungsi sistem dapat bekerja sesuai tujuan pengembangannya.</a:t>
            </a:r>
          </a:p>
          <a:p>
            <a:pPr algn="just">
              <a:lnSpc>
                <a:spcPts val="4480"/>
              </a:lnSpc>
            </a:pPr>
            <a:endParaRPr lang="en-US" sz="3200">
              <a:solidFill>
                <a:srgbClr val="000000"/>
              </a:solidFill>
              <a:latin typeface="Arial MT Pro"/>
              <a:ea typeface="Arial MT Pro"/>
              <a:cs typeface="Arial MT Pro"/>
              <a:sym typeface="Arial MT Pr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7D7DC"/>
        </a:solidFill>
        <a:effectLst/>
      </p:bgPr>
    </p:bg>
    <p:spTree>
      <p:nvGrpSpPr>
        <p:cNvPr id="1" name=""/>
        <p:cNvGrpSpPr/>
        <p:nvPr/>
      </p:nvGrpSpPr>
      <p:grpSpPr>
        <a:xfrm>
          <a:off x="0" y="0"/>
          <a:ext cx="0" cy="0"/>
          <a:chOff x="0" y="0"/>
          <a:chExt cx="0" cy="0"/>
        </a:xfrm>
      </p:grpSpPr>
      <p:sp>
        <p:nvSpPr>
          <p:cNvPr id="2" name="Freeform 2"/>
          <p:cNvSpPr/>
          <p:nvPr/>
        </p:nvSpPr>
        <p:spPr>
          <a:xfrm>
            <a:off x="-110100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9102009" y="0"/>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6825064" y="245780"/>
            <a:ext cx="4637871" cy="1045327"/>
          </a:xfrm>
          <a:prstGeom prst="rect">
            <a:avLst/>
          </a:prstGeom>
        </p:spPr>
        <p:txBody>
          <a:bodyPr lIns="0" tIns="0" rIns="0" bIns="0" rtlCol="0" anchor="t">
            <a:spAutoFit/>
          </a:bodyPr>
          <a:lstStyle/>
          <a:p>
            <a:pPr algn="ctr">
              <a:lnSpc>
                <a:spcPts val="8533"/>
              </a:lnSpc>
            </a:pPr>
            <a:r>
              <a:rPr lang="en-US" sz="6095">
                <a:solidFill>
                  <a:srgbClr val="000000"/>
                </a:solidFill>
                <a:latin typeface="Merriweather"/>
                <a:ea typeface="Merriweather"/>
                <a:cs typeface="Merriweather"/>
                <a:sym typeface="Merriweather"/>
              </a:rPr>
              <a:t>Kesimpulan</a:t>
            </a:r>
          </a:p>
        </p:txBody>
      </p:sp>
      <p:grpSp>
        <p:nvGrpSpPr>
          <p:cNvPr id="5" name="Group 5"/>
          <p:cNvGrpSpPr/>
          <p:nvPr/>
        </p:nvGrpSpPr>
        <p:grpSpPr>
          <a:xfrm>
            <a:off x="2921090" y="2283163"/>
            <a:ext cx="11895263" cy="6975137"/>
            <a:chOff x="0" y="0"/>
            <a:chExt cx="3289473" cy="1928879"/>
          </a:xfrm>
        </p:grpSpPr>
        <p:sp>
          <p:nvSpPr>
            <p:cNvPr id="6" name="Freeform 6"/>
            <p:cNvSpPr/>
            <p:nvPr/>
          </p:nvSpPr>
          <p:spPr>
            <a:xfrm>
              <a:off x="0" y="0"/>
              <a:ext cx="3289474" cy="1928879"/>
            </a:xfrm>
            <a:custGeom>
              <a:avLst/>
              <a:gdLst/>
              <a:ahLst/>
              <a:cxnLst/>
              <a:rect l="l" t="t" r="r" b="b"/>
              <a:pathLst>
                <a:path w="3289474" h="1928879">
                  <a:moveTo>
                    <a:pt x="0" y="0"/>
                  </a:moveTo>
                  <a:lnTo>
                    <a:pt x="3289474" y="0"/>
                  </a:lnTo>
                  <a:lnTo>
                    <a:pt x="3289474" y="1928879"/>
                  </a:lnTo>
                  <a:lnTo>
                    <a:pt x="0" y="1928879"/>
                  </a:lnTo>
                  <a:close/>
                </a:path>
              </a:pathLst>
            </a:custGeom>
            <a:solidFill>
              <a:srgbClr val="FFFBD6"/>
            </a:solidFill>
            <a:ln w="38100" cap="sq">
              <a:solidFill>
                <a:srgbClr val="000000"/>
              </a:solidFill>
              <a:prstDash val="solid"/>
              <a:miter/>
            </a:ln>
          </p:spPr>
        </p:sp>
        <p:sp>
          <p:nvSpPr>
            <p:cNvPr id="7" name="TextBox 7"/>
            <p:cNvSpPr txBox="1"/>
            <p:nvPr/>
          </p:nvSpPr>
          <p:spPr>
            <a:xfrm>
              <a:off x="0" y="-38100"/>
              <a:ext cx="3289473" cy="1966979"/>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104143" y="2347152"/>
            <a:ext cx="11545100" cy="6786245"/>
          </a:xfrm>
          <a:prstGeom prst="rect">
            <a:avLst/>
          </a:prstGeom>
        </p:spPr>
        <p:txBody>
          <a:bodyPr lIns="0" tIns="0" rIns="0" bIns="0" rtlCol="0" anchor="t">
            <a:spAutoFit/>
          </a:bodyPr>
          <a:lstStyle/>
          <a:p>
            <a:pPr algn="just">
              <a:lnSpc>
                <a:spcPts val="4480"/>
              </a:lnSpc>
            </a:pPr>
            <a:r>
              <a:rPr lang="en-US" sz="3200">
                <a:solidFill>
                  <a:srgbClr val="000000"/>
                </a:solidFill>
                <a:latin typeface="Arial MT Pro"/>
                <a:ea typeface="Arial MT Pro"/>
                <a:cs typeface="Arial MT Pro"/>
                <a:sym typeface="Arial MT Pro"/>
              </a:rPr>
              <a:t>Berdasarkan hasil perancangan dan implementasi, sistem pemesanan tiket bioskop berhasil dikembangkan menggunakan bahasa pemrograman Python dengan menerapkan konsep Object-Oriented Programming (OOP). Konsep Encapsulation digunakan untuk menjaga keamanan dan konsistensi data melalui atribut private, property, dan validasi data, sedangkan konsep Polymorphism diterapkan melalui implementasi method yang berbeda pada setiap jenis tiket. Hasil pengujian menunjukkan bahwa seluruh fungsi sistem berjalan sesuai rancangan, mulai dari proses penambahan data, perhitungan harga tiket, hingga menampilkan informasi pemesanan dan total pembayaran secara otomatis.</a:t>
            </a:r>
          </a:p>
        </p:txBody>
      </p:sp>
      <p:grpSp>
        <p:nvGrpSpPr>
          <p:cNvPr id="9" name="Group 9"/>
          <p:cNvGrpSpPr/>
          <p:nvPr/>
        </p:nvGrpSpPr>
        <p:grpSpPr>
          <a:xfrm>
            <a:off x="-427573" y="9477844"/>
            <a:ext cx="19268964" cy="2009278"/>
            <a:chOff x="0" y="0"/>
            <a:chExt cx="6592609" cy="687447"/>
          </a:xfrm>
        </p:grpSpPr>
        <p:sp>
          <p:nvSpPr>
            <p:cNvPr id="10" name="Freeform 10"/>
            <p:cNvSpPr/>
            <p:nvPr/>
          </p:nvSpPr>
          <p:spPr>
            <a:xfrm>
              <a:off x="0" y="0"/>
              <a:ext cx="6592609" cy="687447"/>
            </a:xfrm>
            <a:custGeom>
              <a:avLst/>
              <a:gdLst/>
              <a:ahLst/>
              <a:cxnLst/>
              <a:rect l="l" t="t" r="r" b="b"/>
              <a:pathLst>
                <a:path w="6592609" h="687447">
                  <a:moveTo>
                    <a:pt x="0" y="0"/>
                  </a:moveTo>
                  <a:lnTo>
                    <a:pt x="6592609" y="0"/>
                  </a:lnTo>
                  <a:lnTo>
                    <a:pt x="6592609" y="687447"/>
                  </a:lnTo>
                  <a:lnTo>
                    <a:pt x="0" y="687447"/>
                  </a:lnTo>
                  <a:close/>
                </a:path>
              </a:pathLst>
            </a:custGeom>
            <a:solidFill>
              <a:srgbClr val="8FC9D4"/>
            </a:solidFill>
            <a:ln w="38100" cap="sq">
              <a:solidFill>
                <a:srgbClr val="000000"/>
              </a:solidFill>
              <a:prstDash val="solid"/>
              <a:miter/>
            </a:ln>
          </p:spPr>
        </p:sp>
        <p:sp>
          <p:nvSpPr>
            <p:cNvPr id="11" name="TextBox 11"/>
            <p:cNvSpPr txBox="1"/>
            <p:nvPr/>
          </p:nvSpPr>
          <p:spPr>
            <a:xfrm>
              <a:off x="0" y="-38100"/>
              <a:ext cx="6592609" cy="725547"/>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7227521" y="7924320"/>
            <a:ext cx="2460839" cy="1333980"/>
          </a:xfrm>
          <a:custGeom>
            <a:avLst/>
            <a:gdLst/>
            <a:ahLst/>
            <a:cxnLst/>
            <a:rect l="l" t="t" r="r" b="b"/>
            <a:pathLst>
              <a:path w="2460839" h="1333980">
                <a:moveTo>
                  <a:pt x="0" y="0"/>
                </a:moveTo>
                <a:lnTo>
                  <a:pt x="2460839" y="0"/>
                </a:lnTo>
                <a:lnTo>
                  <a:pt x="2460839" y="1333980"/>
                </a:lnTo>
                <a:lnTo>
                  <a:pt x="0" y="13339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flipH="1">
            <a:off x="14999406" y="7924320"/>
            <a:ext cx="2460839" cy="1333980"/>
          </a:xfrm>
          <a:custGeom>
            <a:avLst/>
            <a:gdLst/>
            <a:ahLst/>
            <a:cxnLst/>
            <a:rect l="l" t="t" r="r" b="b"/>
            <a:pathLst>
              <a:path w="2460839" h="1333980">
                <a:moveTo>
                  <a:pt x="2460839" y="0"/>
                </a:moveTo>
                <a:lnTo>
                  <a:pt x="0" y="0"/>
                </a:lnTo>
                <a:lnTo>
                  <a:pt x="0" y="1333980"/>
                </a:lnTo>
                <a:lnTo>
                  <a:pt x="2460839" y="1333980"/>
                </a:lnTo>
                <a:lnTo>
                  <a:pt x="2460839"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16557721" y="5394092"/>
            <a:ext cx="902524" cy="1048938"/>
          </a:xfrm>
          <a:custGeom>
            <a:avLst/>
            <a:gdLst/>
            <a:ahLst/>
            <a:cxnLst/>
            <a:rect l="l" t="t" r="r" b="b"/>
            <a:pathLst>
              <a:path w="902524" h="1048938">
                <a:moveTo>
                  <a:pt x="0" y="0"/>
                </a:moveTo>
                <a:lnTo>
                  <a:pt x="902524" y="0"/>
                </a:lnTo>
                <a:lnTo>
                  <a:pt x="902524" y="1048938"/>
                </a:lnTo>
                <a:lnTo>
                  <a:pt x="0" y="104893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p:cNvSpPr/>
          <p:nvPr/>
        </p:nvSpPr>
        <p:spPr>
          <a:xfrm rot="-648757">
            <a:off x="802969" y="6780582"/>
            <a:ext cx="1394900" cy="1808623"/>
          </a:xfrm>
          <a:custGeom>
            <a:avLst/>
            <a:gdLst/>
            <a:ahLst/>
            <a:cxnLst/>
            <a:rect l="l" t="t" r="r" b="b"/>
            <a:pathLst>
              <a:path w="1394900" h="1808623">
                <a:moveTo>
                  <a:pt x="0" y="0"/>
                </a:moveTo>
                <a:lnTo>
                  <a:pt x="1394900" y="0"/>
                </a:lnTo>
                <a:lnTo>
                  <a:pt x="1394900" y="1808622"/>
                </a:lnTo>
                <a:lnTo>
                  <a:pt x="0" y="180862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6" name="Freeform 16"/>
          <p:cNvSpPr/>
          <p:nvPr/>
        </p:nvSpPr>
        <p:spPr>
          <a:xfrm rot="1214505">
            <a:off x="15650783" y="1110672"/>
            <a:ext cx="1579431" cy="1833882"/>
          </a:xfrm>
          <a:custGeom>
            <a:avLst/>
            <a:gdLst/>
            <a:ahLst/>
            <a:cxnLst/>
            <a:rect l="l" t="t" r="r" b="b"/>
            <a:pathLst>
              <a:path w="1579431" h="1833882">
                <a:moveTo>
                  <a:pt x="0" y="0"/>
                </a:moveTo>
                <a:lnTo>
                  <a:pt x="1579431" y="0"/>
                </a:lnTo>
                <a:lnTo>
                  <a:pt x="1579431" y="1833883"/>
                </a:lnTo>
                <a:lnTo>
                  <a:pt x="0" y="183388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7" name="Freeform 17"/>
          <p:cNvSpPr/>
          <p:nvPr/>
        </p:nvSpPr>
        <p:spPr>
          <a:xfrm>
            <a:off x="591233" y="665407"/>
            <a:ext cx="2512909" cy="1362206"/>
          </a:xfrm>
          <a:custGeom>
            <a:avLst/>
            <a:gdLst/>
            <a:ahLst/>
            <a:cxnLst/>
            <a:rect l="l" t="t" r="r" b="b"/>
            <a:pathLst>
              <a:path w="2512909" h="1362206">
                <a:moveTo>
                  <a:pt x="0" y="0"/>
                </a:moveTo>
                <a:lnTo>
                  <a:pt x="2512910" y="0"/>
                </a:lnTo>
                <a:lnTo>
                  <a:pt x="2512910" y="1362207"/>
                </a:lnTo>
                <a:lnTo>
                  <a:pt x="0" y="136220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8" name="Freeform 18"/>
          <p:cNvSpPr/>
          <p:nvPr/>
        </p:nvSpPr>
        <p:spPr>
          <a:xfrm flipH="1">
            <a:off x="-1684028" y="665407"/>
            <a:ext cx="2512909" cy="1362206"/>
          </a:xfrm>
          <a:custGeom>
            <a:avLst/>
            <a:gdLst/>
            <a:ahLst/>
            <a:cxnLst/>
            <a:rect l="l" t="t" r="r" b="b"/>
            <a:pathLst>
              <a:path w="2512909" h="1362206">
                <a:moveTo>
                  <a:pt x="2512910" y="0"/>
                </a:moveTo>
                <a:lnTo>
                  <a:pt x="0" y="0"/>
                </a:lnTo>
                <a:lnTo>
                  <a:pt x="0" y="1362207"/>
                </a:lnTo>
                <a:lnTo>
                  <a:pt x="2512910" y="1362207"/>
                </a:lnTo>
                <a:lnTo>
                  <a:pt x="251291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9" name="Freeform 19"/>
          <p:cNvSpPr/>
          <p:nvPr/>
        </p:nvSpPr>
        <p:spPr>
          <a:xfrm>
            <a:off x="3591229" y="369605"/>
            <a:ext cx="902524" cy="1048938"/>
          </a:xfrm>
          <a:custGeom>
            <a:avLst/>
            <a:gdLst/>
            <a:ahLst/>
            <a:cxnLst/>
            <a:rect l="l" t="t" r="r" b="b"/>
            <a:pathLst>
              <a:path w="902524" h="1048938">
                <a:moveTo>
                  <a:pt x="0" y="0"/>
                </a:moveTo>
                <a:lnTo>
                  <a:pt x="902524" y="0"/>
                </a:lnTo>
                <a:lnTo>
                  <a:pt x="902524" y="1048938"/>
                </a:lnTo>
                <a:lnTo>
                  <a:pt x="0" y="10489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7D7DC"/>
        </a:solidFill>
        <a:effectLst/>
      </p:bgPr>
    </p:bg>
    <p:spTree>
      <p:nvGrpSpPr>
        <p:cNvPr id="1" name=""/>
        <p:cNvGrpSpPr/>
        <p:nvPr/>
      </p:nvGrpSpPr>
      <p:grpSpPr>
        <a:xfrm>
          <a:off x="0" y="0"/>
          <a:ext cx="0" cy="0"/>
          <a:chOff x="0" y="0"/>
          <a:chExt cx="0" cy="0"/>
        </a:xfrm>
      </p:grpSpPr>
      <p:sp>
        <p:nvSpPr>
          <p:cNvPr id="2" name="Freeform 2"/>
          <p:cNvSpPr/>
          <p:nvPr/>
        </p:nvSpPr>
        <p:spPr>
          <a:xfrm>
            <a:off x="-110100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9102009" y="0"/>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880258" y="2298470"/>
            <a:ext cx="14527484" cy="7988530"/>
            <a:chOff x="0" y="0"/>
            <a:chExt cx="4017378" cy="2209120"/>
          </a:xfrm>
        </p:grpSpPr>
        <p:sp>
          <p:nvSpPr>
            <p:cNvPr id="5" name="Freeform 5"/>
            <p:cNvSpPr/>
            <p:nvPr/>
          </p:nvSpPr>
          <p:spPr>
            <a:xfrm>
              <a:off x="0" y="0"/>
              <a:ext cx="4017378" cy="2209120"/>
            </a:xfrm>
            <a:custGeom>
              <a:avLst/>
              <a:gdLst/>
              <a:ahLst/>
              <a:cxnLst/>
              <a:rect l="l" t="t" r="r" b="b"/>
              <a:pathLst>
                <a:path w="4017378" h="2209120">
                  <a:moveTo>
                    <a:pt x="0" y="0"/>
                  </a:moveTo>
                  <a:lnTo>
                    <a:pt x="4017378" y="0"/>
                  </a:lnTo>
                  <a:lnTo>
                    <a:pt x="4017378" y="2209120"/>
                  </a:lnTo>
                  <a:lnTo>
                    <a:pt x="0" y="2209120"/>
                  </a:lnTo>
                  <a:close/>
                </a:path>
              </a:pathLst>
            </a:custGeom>
            <a:solidFill>
              <a:srgbClr val="FFFBD6"/>
            </a:solidFill>
            <a:ln w="38100" cap="sq">
              <a:solidFill>
                <a:srgbClr val="000000"/>
              </a:solidFill>
              <a:prstDash val="solid"/>
              <a:miter/>
            </a:ln>
          </p:spPr>
        </p:sp>
        <p:sp>
          <p:nvSpPr>
            <p:cNvPr id="6" name="TextBox 6"/>
            <p:cNvSpPr txBox="1"/>
            <p:nvPr/>
          </p:nvSpPr>
          <p:spPr>
            <a:xfrm>
              <a:off x="0" y="-38100"/>
              <a:ext cx="4017378" cy="224722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24363" y="9588393"/>
            <a:ext cx="18841391" cy="2009278"/>
            <a:chOff x="0" y="0"/>
            <a:chExt cx="6446321" cy="687447"/>
          </a:xfrm>
        </p:grpSpPr>
        <p:sp>
          <p:nvSpPr>
            <p:cNvPr id="8" name="Freeform 8"/>
            <p:cNvSpPr/>
            <p:nvPr/>
          </p:nvSpPr>
          <p:spPr>
            <a:xfrm>
              <a:off x="0" y="0"/>
              <a:ext cx="6446321" cy="687447"/>
            </a:xfrm>
            <a:custGeom>
              <a:avLst/>
              <a:gdLst/>
              <a:ahLst/>
              <a:cxnLst/>
              <a:rect l="l" t="t" r="r" b="b"/>
              <a:pathLst>
                <a:path w="6446321" h="687447">
                  <a:moveTo>
                    <a:pt x="0" y="0"/>
                  </a:moveTo>
                  <a:lnTo>
                    <a:pt x="6446321" y="0"/>
                  </a:lnTo>
                  <a:lnTo>
                    <a:pt x="6446321" y="687447"/>
                  </a:lnTo>
                  <a:lnTo>
                    <a:pt x="0" y="687447"/>
                  </a:lnTo>
                  <a:close/>
                </a:path>
              </a:pathLst>
            </a:custGeom>
            <a:solidFill>
              <a:srgbClr val="8FC9D4"/>
            </a:solidFill>
            <a:ln w="38100" cap="sq">
              <a:solidFill>
                <a:srgbClr val="000000"/>
              </a:solidFill>
              <a:prstDash val="solid"/>
              <a:miter/>
            </a:ln>
          </p:spPr>
        </p:sp>
        <p:sp>
          <p:nvSpPr>
            <p:cNvPr id="9" name="TextBox 9"/>
            <p:cNvSpPr txBox="1"/>
            <p:nvPr/>
          </p:nvSpPr>
          <p:spPr>
            <a:xfrm>
              <a:off x="0" y="-38100"/>
              <a:ext cx="6446321" cy="725547"/>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3563846" y="-595371"/>
            <a:ext cx="11076325" cy="3133842"/>
          </a:xfrm>
          <a:prstGeom prst="rect">
            <a:avLst/>
          </a:prstGeom>
        </p:spPr>
        <p:txBody>
          <a:bodyPr lIns="0" tIns="0" rIns="0" bIns="0" rtlCol="0" anchor="t">
            <a:spAutoFit/>
          </a:bodyPr>
          <a:lstStyle/>
          <a:p>
            <a:pPr algn="l">
              <a:lnSpc>
                <a:spcPts val="8393"/>
              </a:lnSpc>
            </a:pPr>
            <a:endParaRPr/>
          </a:p>
          <a:p>
            <a:pPr algn="l">
              <a:lnSpc>
                <a:spcPts val="8393"/>
              </a:lnSpc>
            </a:pPr>
            <a:r>
              <a:rPr lang="en-US" sz="5995">
                <a:solidFill>
                  <a:srgbClr val="000000"/>
                </a:solidFill>
                <a:latin typeface="Merriweather"/>
                <a:ea typeface="Merriweather"/>
                <a:cs typeface="Merriweather"/>
                <a:sym typeface="Merriweather"/>
              </a:rPr>
              <a:t>Saran Pengembangan Sistem</a:t>
            </a:r>
          </a:p>
          <a:p>
            <a:pPr algn="l">
              <a:lnSpc>
                <a:spcPts val="8393"/>
              </a:lnSpc>
            </a:pPr>
            <a:endParaRPr lang="en-US" sz="5995">
              <a:solidFill>
                <a:srgbClr val="000000"/>
              </a:solidFill>
              <a:latin typeface="Merriweather"/>
              <a:ea typeface="Merriweather"/>
              <a:cs typeface="Merriweather"/>
              <a:sym typeface="Merriweather"/>
            </a:endParaRPr>
          </a:p>
        </p:txBody>
      </p:sp>
      <p:sp>
        <p:nvSpPr>
          <p:cNvPr id="11" name="TextBox 11"/>
          <p:cNvSpPr txBox="1"/>
          <p:nvPr/>
        </p:nvSpPr>
        <p:spPr>
          <a:xfrm>
            <a:off x="2617691" y="2608397"/>
            <a:ext cx="13052618" cy="6786245"/>
          </a:xfrm>
          <a:prstGeom prst="rect">
            <a:avLst/>
          </a:prstGeom>
        </p:spPr>
        <p:txBody>
          <a:bodyPr lIns="0" tIns="0" rIns="0" bIns="0" rtlCol="0" anchor="t">
            <a:spAutoFit/>
          </a:bodyPr>
          <a:lstStyle/>
          <a:p>
            <a:pPr algn="just">
              <a:lnSpc>
                <a:spcPts val="4480"/>
              </a:lnSpc>
            </a:pPr>
            <a:r>
              <a:rPr lang="en-US" sz="3200">
                <a:solidFill>
                  <a:srgbClr val="000000"/>
                </a:solidFill>
                <a:latin typeface="Arial MT Pro"/>
                <a:ea typeface="Arial MT Pro"/>
                <a:cs typeface="Arial MT Pro"/>
                <a:sym typeface="Arial MT Pro"/>
              </a:rPr>
              <a:t>Sistem yang dikembangkan masih berupa simulasi berbasis terminal sehingga masih memiliki peluang untuk dikembangkan lebih lanjut. Pengembangan selanjutnya dapat dilakukan dengan menambahkan antarmuka pengguna berbasis Graphical User Interface (GUI) atau aplikasi berbasis web agar sistem lebih mudah digunakan. Selain itu, sistem dapat diintegrasikan dengan basis data untuk menyimpan data pemesanan secara permanen, menambahkan fitur autentikasi pengguna, pemilihan jadwal tayang, metode pembayaran digital, serta pencetakan tiket elektronik (e-ticket). Dengan pengembangan tersebut, sistem diharapkan mampu menjadi aplikasi pemesanan tiket bioskop yang lebih lengkap, interaktif, serta mendekati implementasi pada lingkungan nyata.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7D7DC"/>
        </a:solidFill>
        <a:effectLst/>
      </p:bgPr>
    </p:bg>
    <p:spTree>
      <p:nvGrpSpPr>
        <p:cNvPr id="1" name=""/>
        <p:cNvGrpSpPr/>
        <p:nvPr/>
      </p:nvGrpSpPr>
      <p:grpSpPr>
        <a:xfrm>
          <a:off x="0" y="0"/>
          <a:ext cx="0" cy="0"/>
          <a:chOff x="0" y="0"/>
          <a:chExt cx="0" cy="0"/>
        </a:xfrm>
      </p:grpSpPr>
      <p:sp>
        <p:nvSpPr>
          <p:cNvPr id="2" name="Freeform 2"/>
          <p:cNvSpPr/>
          <p:nvPr/>
        </p:nvSpPr>
        <p:spPr>
          <a:xfrm>
            <a:off x="-110100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9102009" y="0"/>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sp>
      <p:sp>
        <p:nvSpPr>
          <p:cNvPr id="4" name="Freeform 4"/>
          <p:cNvSpPr/>
          <p:nvPr/>
        </p:nvSpPr>
        <p:spPr>
          <a:xfrm>
            <a:off x="3084809" y="1485264"/>
            <a:ext cx="12118382" cy="7316473"/>
          </a:xfrm>
          <a:custGeom>
            <a:avLst/>
            <a:gdLst/>
            <a:ahLst/>
            <a:cxnLst/>
            <a:rect l="l" t="t" r="r" b="b"/>
            <a:pathLst>
              <a:path w="12118382" h="7316473">
                <a:moveTo>
                  <a:pt x="0" y="0"/>
                </a:moveTo>
                <a:lnTo>
                  <a:pt x="12118382" y="0"/>
                </a:lnTo>
                <a:lnTo>
                  <a:pt x="12118382" y="7316472"/>
                </a:lnTo>
                <a:lnTo>
                  <a:pt x="0" y="7316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3833739" y="2704982"/>
            <a:ext cx="10620522" cy="2955924"/>
          </a:xfrm>
          <a:prstGeom prst="rect">
            <a:avLst/>
          </a:prstGeom>
        </p:spPr>
        <p:txBody>
          <a:bodyPr lIns="0" tIns="0" rIns="0" bIns="0" rtlCol="0" anchor="t">
            <a:spAutoFit/>
          </a:bodyPr>
          <a:lstStyle/>
          <a:p>
            <a:pPr algn="ctr">
              <a:lnSpc>
                <a:spcPts val="11900"/>
              </a:lnSpc>
            </a:pPr>
            <a:r>
              <a:rPr lang="en-US" sz="8500">
                <a:solidFill>
                  <a:srgbClr val="000000"/>
                </a:solidFill>
                <a:latin typeface="Merriweather"/>
                <a:ea typeface="Merriweather"/>
                <a:cs typeface="Merriweather"/>
                <a:sym typeface="Merriweather"/>
              </a:rPr>
              <a:t>Terima Kasih</a:t>
            </a:r>
          </a:p>
          <a:p>
            <a:pPr algn="ctr">
              <a:lnSpc>
                <a:spcPts val="11900"/>
              </a:lnSpc>
            </a:pPr>
            <a:r>
              <a:rPr lang="en-US" sz="8500">
                <a:solidFill>
                  <a:srgbClr val="000000"/>
                </a:solidFill>
                <a:latin typeface="Merriweather"/>
                <a:ea typeface="Merriweather"/>
                <a:cs typeface="Merriweather"/>
                <a:sym typeface="Merriweather"/>
              </a:rPr>
              <a:t>dan Sampai Jumpa</a:t>
            </a:r>
          </a:p>
        </p:txBody>
      </p:sp>
      <p:sp>
        <p:nvSpPr>
          <p:cNvPr id="6" name="TextBox 6"/>
          <p:cNvSpPr txBox="1"/>
          <p:nvPr/>
        </p:nvSpPr>
        <p:spPr>
          <a:xfrm>
            <a:off x="4800850" y="6100270"/>
            <a:ext cx="8686301" cy="1764030"/>
          </a:xfrm>
          <a:prstGeom prst="rect">
            <a:avLst/>
          </a:prstGeom>
        </p:spPr>
        <p:txBody>
          <a:bodyPr lIns="0" tIns="0" rIns="0" bIns="0" rtlCol="0" anchor="t">
            <a:spAutoFit/>
          </a:bodyPr>
          <a:lstStyle/>
          <a:p>
            <a:pPr algn="ctr">
              <a:lnSpc>
                <a:spcPts val="6719"/>
              </a:lnSpc>
            </a:pPr>
            <a:r>
              <a:rPr lang="en-US" sz="4800">
                <a:solidFill>
                  <a:srgbClr val="000000"/>
                </a:solidFill>
                <a:latin typeface="Arial MT Pro"/>
                <a:ea typeface="Arial MT Pro"/>
                <a:cs typeface="Arial MT Pro"/>
                <a:sym typeface="Arial MT Pro"/>
              </a:rPr>
              <a:t>Sampai jumpa di pertemuan selanjutnya</a:t>
            </a:r>
          </a:p>
        </p:txBody>
      </p:sp>
      <p:sp>
        <p:nvSpPr>
          <p:cNvPr id="7" name="Freeform 7"/>
          <p:cNvSpPr/>
          <p:nvPr/>
        </p:nvSpPr>
        <p:spPr>
          <a:xfrm>
            <a:off x="16906742" y="-253145"/>
            <a:ext cx="2717193" cy="1472945"/>
          </a:xfrm>
          <a:custGeom>
            <a:avLst/>
            <a:gdLst/>
            <a:ahLst/>
            <a:cxnLst/>
            <a:rect l="l" t="t" r="r" b="b"/>
            <a:pathLst>
              <a:path w="2717193" h="1472945">
                <a:moveTo>
                  <a:pt x="0" y="0"/>
                </a:moveTo>
                <a:lnTo>
                  <a:pt x="2717193" y="0"/>
                </a:lnTo>
                <a:lnTo>
                  <a:pt x="2717193" y="1472945"/>
                </a:lnTo>
                <a:lnTo>
                  <a:pt x="0" y="147294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flipH="1">
            <a:off x="14454261" y="-253145"/>
            <a:ext cx="2717193" cy="1472945"/>
          </a:xfrm>
          <a:custGeom>
            <a:avLst/>
            <a:gdLst/>
            <a:ahLst/>
            <a:cxnLst/>
            <a:rect l="l" t="t" r="r" b="b"/>
            <a:pathLst>
              <a:path w="2717193" h="1472945">
                <a:moveTo>
                  <a:pt x="2717193" y="0"/>
                </a:moveTo>
                <a:lnTo>
                  <a:pt x="0" y="0"/>
                </a:lnTo>
                <a:lnTo>
                  <a:pt x="0" y="1472945"/>
                </a:lnTo>
                <a:lnTo>
                  <a:pt x="2717193" y="1472945"/>
                </a:lnTo>
                <a:lnTo>
                  <a:pt x="2717193"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2013990" y="9093080"/>
            <a:ext cx="2786860" cy="1510710"/>
          </a:xfrm>
          <a:custGeom>
            <a:avLst/>
            <a:gdLst/>
            <a:ahLst/>
            <a:cxnLst/>
            <a:rect l="l" t="t" r="r" b="b"/>
            <a:pathLst>
              <a:path w="2786860" h="1510710">
                <a:moveTo>
                  <a:pt x="0" y="0"/>
                </a:moveTo>
                <a:lnTo>
                  <a:pt x="2786860" y="0"/>
                </a:lnTo>
                <a:lnTo>
                  <a:pt x="2786860" y="1510710"/>
                </a:lnTo>
                <a:lnTo>
                  <a:pt x="0" y="15107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flipH="1">
            <a:off x="-501371" y="9093080"/>
            <a:ext cx="2786860" cy="1510710"/>
          </a:xfrm>
          <a:custGeom>
            <a:avLst/>
            <a:gdLst/>
            <a:ahLst/>
            <a:cxnLst/>
            <a:rect l="l" t="t" r="r" b="b"/>
            <a:pathLst>
              <a:path w="2786860" h="1510710">
                <a:moveTo>
                  <a:pt x="2786860" y="0"/>
                </a:moveTo>
                <a:lnTo>
                  <a:pt x="0" y="0"/>
                </a:lnTo>
                <a:lnTo>
                  <a:pt x="0" y="1510710"/>
                </a:lnTo>
                <a:lnTo>
                  <a:pt x="2786860" y="1510710"/>
                </a:lnTo>
                <a:lnTo>
                  <a:pt x="278686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a:off x="15812858" y="7864300"/>
            <a:ext cx="1837944" cy="2136110"/>
          </a:xfrm>
          <a:custGeom>
            <a:avLst/>
            <a:gdLst/>
            <a:ahLst/>
            <a:cxnLst/>
            <a:rect l="l" t="t" r="r" b="b"/>
            <a:pathLst>
              <a:path w="1837944" h="2136110">
                <a:moveTo>
                  <a:pt x="0" y="0"/>
                </a:moveTo>
                <a:lnTo>
                  <a:pt x="1837944" y="0"/>
                </a:lnTo>
                <a:lnTo>
                  <a:pt x="1837944" y="2136110"/>
                </a:lnTo>
                <a:lnTo>
                  <a:pt x="0" y="213611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Freeform 12"/>
          <p:cNvSpPr/>
          <p:nvPr/>
        </p:nvSpPr>
        <p:spPr>
          <a:xfrm>
            <a:off x="447545" y="730797"/>
            <a:ext cx="1837944" cy="2136110"/>
          </a:xfrm>
          <a:custGeom>
            <a:avLst/>
            <a:gdLst/>
            <a:ahLst/>
            <a:cxnLst/>
            <a:rect l="l" t="t" r="r" b="b"/>
            <a:pathLst>
              <a:path w="1837944" h="2136110">
                <a:moveTo>
                  <a:pt x="0" y="0"/>
                </a:moveTo>
                <a:lnTo>
                  <a:pt x="1837944" y="0"/>
                </a:lnTo>
                <a:lnTo>
                  <a:pt x="1837944" y="2136110"/>
                </a:lnTo>
                <a:lnTo>
                  <a:pt x="0" y="213611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3" name="Freeform 13"/>
          <p:cNvSpPr/>
          <p:nvPr/>
        </p:nvSpPr>
        <p:spPr>
          <a:xfrm>
            <a:off x="490475" y="3638366"/>
            <a:ext cx="1076450" cy="1251080"/>
          </a:xfrm>
          <a:custGeom>
            <a:avLst/>
            <a:gdLst/>
            <a:ahLst/>
            <a:cxnLst/>
            <a:rect l="l" t="t" r="r" b="b"/>
            <a:pathLst>
              <a:path w="1076450" h="1251080">
                <a:moveTo>
                  <a:pt x="0" y="0"/>
                </a:moveTo>
                <a:lnTo>
                  <a:pt x="1076450" y="0"/>
                </a:lnTo>
                <a:lnTo>
                  <a:pt x="1076450" y="1251080"/>
                </a:lnTo>
                <a:lnTo>
                  <a:pt x="0" y="125108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16193605" y="5826455"/>
            <a:ext cx="1076450" cy="1251080"/>
          </a:xfrm>
          <a:custGeom>
            <a:avLst/>
            <a:gdLst/>
            <a:ahLst/>
            <a:cxnLst/>
            <a:rect l="l" t="t" r="r" b="b"/>
            <a:pathLst>
              <a:path w="1076450" h="1251080">
                <a:moveTo>
                  <a:pt x="0" y="0"/>
                </a:moveTo>
                <a:lnTo>
                  <a:pt x="1076450" y="0"/>
                </a:lnTo>
                <a:lnTo>
                  <a:pt x="1076450" y="1251080"/>
                </a:lnTo>
                <a:lnTo>
                  <a:pt x="0" y="125108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5" name="Freeform 15"/>
          <p:cNvSpPr/>
          <p:nvPr/>
        </p:nvSpPr>
        <p:spPr>
          <a:xfrm rot="-648757">
            <a:off x="16431642" y="2561093"/>
            <a:ext cx="1285153" cy="1666324"/>
          </a:xfrm>
          <a:custGeom>
            <a:avLst/>
            <a:gdLst/>
            <a:ahLst/>
            <a:cxnLst/>
            <a:rect l="l" t="t" r="r" b="b"/>
            <a:pathLst>
              <a:path w="1285153" h="1666324">
                <a:moveTo>
                  <a:pt x="0" y="0"/>
                </a:moveTo>
                <a:lnTo>
                  <a:pt x="1285153" y="0"/>
                </a:lnTo>
                <a:lnTo>
                  <a:pt x="1285153" y="1666324"/>
                </a:lnTo>
                <a:lnTo>
                  <a:pt x="0" y="166632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6" name="Freeform 16"/>
          <p:cNvSpPr/>
          <p:nvPr/>
        </p:nvSpPr>
        <p:spPr>
          <a:xfrm rot="1214505">
            <a:off x="688948" y="6300609"/>
            <a:ext cx="1466093" cy="1702285"/>
          </a:xfrm>
          <a:custGeom>
            <a:avLst/>
            <a:gdLst/>
            <a:ahLst/>
            <a:cxnLst/>
            <a:rect l="l" t="t" r="r" b="b"/>
            <a:pathLst>
              <a:path w="1466093" h="1702285">
                <a:moveTo>
                  <a:pt x="0" y="0"/>
                </a:moveTo>
                <a:lnTo>
                  <a:pt x="1466093" y="0"/>
                </a:lnTo>
                <a:lnTo>
                  <a:pt x="1466093" y="1702286"/>
                </a:lnTo>
                <a:lnTo>
                  <a:pt x="0" y="170228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7" name="Freeform 17"/>
          <p:cNvSpPr/>
          <p:nvPr/>
        </p:nvSpPr>
        <p:spPr>
          <a:xfrm>
            <a:off x="3084809" y="-520283"/>
            <a:ext cx="1076450" cy="1251080"/>
          </a:xfrm>
          <a:custGeom>
            <a:avLst/>
            <a:gdLst/>
            <a:ahLst/>
            <a:cxnLst/>
            <a:rect l="l" t="t" r="r" b="b"/>
            <a:pathLst>
              <a:path w="1076450" h="1251080">
                <a:moveTo>
                  <a:pt x="0" y="0"/>
                </a:moveTo>
                <a:lnTo>
                  <a:pt x="1076451" y="0"/>
                </a:lnTo>
                <a:lnTo>
                  <a:pt x="1076451" y="1251080"/>
                </a:lnTo>
                <a:lnTo>
                  <a:pt x="0" y="125108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8" name="Freeform 18"/>
          <p:cNvSpPr/>
          <p:nvPr/>
        </p:nvSpPr>
        <p:spPr>
          <a:xfrm>
            <a:off x="13487150" y="9374869"/>
            <a:ext cx="1076450" cy="1251080"/>
          </a:xfrm>
          <a:custGeom>
            <a:avLst/>
            <a:gdLst/>
            <a:ahLst/>
            <a:cxnLst/>
            <a:rect l="l" t="t" r="r" b="b"/>
            <a:pathLst>
              <a:path w="1076450" h="1251080">
                <a:moveTo>
                  <a:pt x="0" y="0"/>
                </a:moveTo>
                <a:lnTo>
                  <a:pt x="1076451" y="0"/>
                </a:lnTo>
                <a:lnTo>
                  <a:pt x="1076451" y="1251081"/>
                </a:lnTo>
                <a:lnTo>
                  <a:pt x="0" y="125108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787</Words>
  <Application>Microsoft Office PowerPoint</Application>
  <PresentationFormat>Custom</PresentationFormat>
  <Paragraphs>35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Merriweather</vt:lpstr>
      <vt:lpstr>Arial</vt:lpstr>
      <vt:lpstr>Calibri</vt:lpstr>
      <vt:lpstr>Arial MT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Tambahkan gula.</dc:title>
  <dc:creator>Zexs Store</dc:creator>
  <cp:lastModifiedBy>Zexs Store</cp:lastModifiedBy>
  <cp:revision>3</cp:revision>
  <dcterms:created xsi:type="dcterms:W3CDTF">2006-08-16T00:00:00Z</dcterms:created>
  <dcterms:modified xsi:type="dcterms:W3CDTF">2026-07-02T09:25:04Z</dcterms:modified>
  <dc:identifier>DAHOCqZorFo</dc:identifier>
</cp:coreProperties>
</file>